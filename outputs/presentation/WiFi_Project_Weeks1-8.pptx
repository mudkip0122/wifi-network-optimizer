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type="screen16x9"/>
  <p:notesSz cx="6858000" cy="9144000"/>
  <p:defaultTextStyle>
    <a:defPPr>
      <a:defRPr lang="ko-KR"/>
    </a:defPPr>
  </p:defaultTextStyle>
</p:presentation>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30초] 안녕하세요. Wi-Fi 무선 네트워크 품질 분석 및 최적화 시스템의 개발 내용을 발표하겠습니다. 이 프로젝트는 Wi-Fi 연결 정보뿐 아니라 지연, 패킷 손실과 실제 전송 속도를 함께 측정하는 Windows 프로그램입니다. 전체 계획은 16주이며, 현재 1주차부터 8주차까지 측정과 저장, 시각화, 품질 평가 기능을 구현했습니다. 오늘은 현재 구현한 기능과 검증 결과, 향후 계획을 설명하겠습니다.</a:t>
            </a:r>
            <a:endParaRPr lang="ko-KR" sz="1350"/>
          </a:p>
          <a:p>
            <a:pPr>
              <a:lnSpc>
                <a:spcPct val="120000"/>
              </a:lnSpc>
            </a:pPr>
            <a:r>
              <a:rPr lang="ko-KR" sz="1350" b="0">
                <a:solidFill>
                  <a:srgbClr val="142B43"/>
                </a:solidFill>
                <a:latin typeface="Malgun Gothic"/>
                <a:ea typeface="Malgun Gothic"/>
                <a:cs typeface="Malgun Gothic"/>
              </a:rPr>
              <a:t>출처: README.md, plan.md. 기준일 2026-10-08.</a:t>
            </a:r>
            <a:endParaRPr lang="ko-KR" sz="135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35초] 사용자는 연결 표시만으로 실제 네트워크 상태를 파악하기 어렵습니다. 신호가 강해도 응답 지연이나 패킷 손실이 발생할 수 있고, 인터넷 경로도 결과에 영향을 줍니다. 그래서 여러 지표를 함께 측정하고 같은 조건에서 반복 확인할 수 있는 도구를 만들고자 했습니다. 최종적으로 강의실, 복도나 실습실의 위치별 품질을 비교하고 개선 방향을 제안하는 것이 목표입니다. 현재는 그 기반이 되는 수집과 평가 기능까지 구현했습니다.</a:t>
            </a:r>
            <a:endParaRPr lang="ko-KR" sz="1350"/>
          </a:p>
          <a:p>
            <a:pPr>
              <a:lnSpc>
                <a:spcPct val="120000"/>
              </a:lnSpc>
            </a:pPr>
            <a:r>
              <a:rPr lang="ko-KR" sz="1350" b="0">
                <a:solidFill>
                  <a:srgbClr val="142B43"/>
                </a:solidFill>
                <a:latin typeface="Malgun Gothic"/>
                <a:ea typeface="Malgun Gothic"/>
                <a:cs typeface="Malgun Gothic"/>
              </a:rPr>
              <a:t>출처: docs/requirements.md, plan.md.</a:t>
            </a:r>
            <a:endParaRPr lang="ko-KR" sz="135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35초] 1주차에는 요구사항과 기존 코드를 검토하고 개발 환경을 구성했습니다. 2주차와 3주차에 Wi-Fi 기본 정보와 네트워크 품질 측정을 추가했습니다. 4주차에는 Collector로 측정을 통합하고 시작과 중지, 자동 반복을 구현했습니다. 5주차에 SQLite 저장과 기록 조회를 연결했으며, 6주차부터 화면과 실시간 그래프를 확장했습니다. 마지막으로 8주차에 종합 품질 점수와 등급을 계산하고 Dashboard에 표시했습니다.</a:t>
            </a:r>
            <a:endParaRPr lang="ko-KR" sz="1350"/>
          </a:p>
          <a:p>
            <a:pPr>
              <a:lnSpc>
                <a:spcPct val="120000"/>
              </a:lnSpc>
            </a:pPr>
            <a:r>
              <a:rPr lang="ko-KR" sz="1350" b="0">
                <a:solidFill>
                  <a:srgbClr val="142B43"/>
                </a:solidFill>
                <a:latin typeface="Malgun Gothic"/>
                <a:ea typeface="Malgun Gothic"/>
                <a:cs typeface="Malgun Gothic"/>
              </a:rPr>
              <a:t>출처: docs/week01-status.md~docs/week08-status.md.</a:t>
            </a:r>
            <a:endParaRPr lang="ko-KR" sz="135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40초] Wi-Fi 정보는 netsh와 Windows Native Wi-Fi API로 가져옵니다. RSSI는 드라이버 실측값과 신호 비율에서 환산한 추정값의 출처를 구분합니다. Ping은 게이트웨이와 외부 대상을 각각 측정해서 무선 구간과 인터넷 경로를 비교할 수 있도록 했습니다. 속도는 사용자가 예약할 때만 단일 HTTPS 연결로 측정하며 약 12MB의 시험 데이터를 사용합니다. 최대 회선 속도 측정과는 방식이 다르다는 점을 화면에 안내합니다.</a:t>
            </a:r>
            <a:endParaRPr lang="ko-KR" sz="1350"/>
          </a:p>
          <a:p>
            <a:pPr>
              <a:lnSpc>
                <a:spcPct val="120000"/>
              </a:lnSpc>
            </a:pPr>
            <a:r>
              <a:rPr lang="ko-KR" sz="1350" b="0">
                <a:solidFill>
                  <a:srgbClr val="142B43"/>
                </a:solidFill>
                <a:latin typeface="Malgun Gothic"/>
                <a:ea typeface="Malgun Gothic"/>
                <a:cs typeface="Malgun Gothic"/>
              </a:rPr>
              <a:t>출처: docs/week02-status.md, docs/week03-status.md.</a:t>
            </a:r>
            <a:endParaRPr lang="ko-KR" sz="135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40초] 프로그램 화면과 오래 걸리는 네트워크 측정 작업은 분리했습니다. 한 작업자가 순차 측정하고, 화면은 결과 큐를 읽어서 갱신합니다. 각 측정 결과를 SQLite에 자동 저장하기 때문에 프로그램을 다시 실행해도 과거 기록을 조회할 수 있습니다. 기록에는 AP와 실행 세션, 대상별 Ping, 속도 방향별 상태, 시각과 원본 JSON이 포함됩니다. 현재 버전에서는 측정 결과의 품질 평가도 원본 JSON에 함께 보존합니다.</a:t>
            </a:r>
            <a:endParaRPr lang="ko-KR" sz="1350"/>
          </a:p>
          <a:p>
            <a:pPr>
              <a:lnSpc>
                <a:spcPct val="120000"/>
              </a:lnSpc>
            </a:pPr>
            <a:r>
              <a:rPr lang="ko-KR" sz="1350" b="0">
                <a:solidFill>
                  <a:srgbClr val="142B43"/>
                </a:solidFill>
                <a:latin typeface="Malgun Gothic"/>
                <a:ea typeface="Malgun Gothic"/>
                <a:cs typeface="Malgun Gothic"/>
              </a:rPr>
              <a:t>출처: wifi_optimizer/collector.py, wifi_optimizer/measurement.py, docs/database-design.md, docs/architecture.md.</a:t>
            </a:r>
            <a:endParaRPr lang="ko-KR" sz="135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40초] Dashboard는 연결 정보와 현재 주기의 측정값을 한 화면에 보여 줍니다. 마지막 완료 시각과 DB 저장 상태도 확인할 수 있습니다. 그래프는 RSSI, 신호 세기, Ping, 패킷 손실, 속도 중에서 선택하며 최근 100개 기록을 표시합니다. 실패나 미측정 구간은 선을 끊어서 보여 주고, 연결이나 수집 설정이 바뀌면 기록을 초기화합니다. 속도를 요청하지 않은 주기에 이전 속도 값을 재사용하지 않는 것도 중요한 구현 원칙입니다.</a:t>
            </a:r>
            <a:endParaRPr lang="ko-KR" sz="1350"/>
          </a:p>
          <a:p>
            <a:pPr>
              <a:lnSpc>
                <a:spcPct val="120000"/>
              </a:lnSpc>
            </a:pPr>
            <a:r>
              <a:rPr lang="ko-KR" sz="1350" b="0">
                <a:solidFill>
                  <a:srgbClr val="142B43"/>
                </a:solidFill>
                <a:latin typeface="Malgun Gothic"/>
                <a:ea typeface="Malgun Gothic"/>
                <a:cs typeface="Malgun Gothic"/>
              </a:rPr>
              <a:t>출처: docs/week06-status.md, docs/week07-status.md, wifi_optimizer/visualization/graphs.py.</a:t>
            </a:r>
            <a:endParaRPr lang="ko-KR" sz="135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50초] 품질 평가는 각 지표를 0점부터 100점으로 환산한 뒤 가중 평균을 계산합니다. RSSI의 가중치는 30, Ping은 두 대상 합계 25, 손실은 35, 속도는 10입니다. 미측정된 속도는 0점으로 처리하지 않고 제외한 뒤 나머지 가중치를 다시 계산합니다. 그래서 평소에는 평가 범위가 90%, 속도까지 측정하면 100%입니다. 평가에는 RSSI와 최소 하나의 Ping 또는 손실 지표가 필요합니다. 이 기준은 프로젝트 초기 기준이므로 향후 실환경 데이터로 보정할 계획입니다.</a:t>
            </a:r>
            <a:endParaRPr lang="ko-KR" sz="1350"/>
          </a:p>
          <a:p>
            <a:pPr>
              <a:lnSpc>
                <a:spcPct val="120000"/>
              </a:lnSpc>
            </a:pPr>
            <a:r>
              <a:rPr lang="ko-KR" sz="1350" b="0">
                <a:solidFill>
                  <a:srgbClr val="142B43"/>
                </a:solidFill>
                <a:latin typeface="Malgun Gothic"/>
                <a:ea typeface="Malgun Gothic"/>
                <a:cs typeface="Malgun Gothic"/>
              </a:rPr>
              <a:t>출처: wifi_optimizer/analysis/quality.py, docs/week08-status.md. 속도 목표는 기본값 다운로드 100 Mbps, 업로드 20 Mbps. 지표 집계: Ping=15+10, 손실=20+15, 속도=7+3.</a:t>
            </a:r>
            <a:endParaRPr lang="ko-KR" sz="135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35초] 실제 프로그램을 실행해 자동 측정과 RSSI 그래프, 품질 점수 및 DB 저장을 확인했습니다. 속도 포함 측정에서 다운로드는 약 31.56Mbps, 업로드는 약 16.56Mbps였고, 해당 측정의 종합 점수는 94.69점으로 매우 좋음 등급이었습니다. 다음 일반 측정에서는 속도를 제외하고 평가 범위가 다시 90%로 돌아오는 것도 확인했습니다. 이 숫자는 한 환경의 단일 측정 결과이며 장기 평균이나 모든 장소의 성능을 의미하지 않습니다.</a:t>
            </a:r>
            <a:endParaRPr lang="ko-KR" sz="1350"/>
          </a:p>
          <a:p>
            <a:pPr>
              <a:lnSpc>
                <a:spcPct val="120000"/>
              </a:lnSpc>
            </a:pPr>
            <a:r>
              <a:rPr lang="ko-KR" sz="1350" b="0">
                <a:solidFill>
                  <a:srgbClr val="142B43"/>
                </a:solidFill>
                <a:latin typeface="Malgun Gothic"/>
                <a:ea typeface="Malgun Gothic"/>
                <a:cs typeface="Malgun Gothic"/>
              </a:rPr>
              <a:t>출처: docs/week08-status.md. 실측 시각 2026-10-08 00:59 KST, 단일 HTTPS 전송, 약 12 MB.</a:t>
            </a:r>
            <a:endParaRPr lang="ko-KR" sz="135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40초] 측정 실패와 정상적인 0을 구분하도록 검증했습니다. 예를 들어 100% 손실은 손실 점수 0점으로 계산하지만 응답 지연은 측정 불가로 처리합니다. 속도 미요청과 방향별 실패도 구분하고, 연결이 바뀐 결과나 취소된 결과에서는 종합 평가를 중단합니다. 전체 자동 테스트 66개를 통과했고, 실제 화면 확인에서 발견한 하단 버튼 잘림 문제도 수정했습니다. 이후 사용자가 그래프 선택과 Wi-Fi 끊김 및 복구를 확인하고 이상 없음을 보고했습니다.</a:t>
            </a:r>
            <a:endParaRPr lang="ko-KR" sz="1350"/>
          </a:p>
          <a:p>
            <a:pPr>
              <a:lnSpc>
                <a:spcPct val="120000"/>
              </a:lnSpc>
            </a:pPr>
            <a:r>
              <a:rPr lang="ko-KR" sz="1350" b="0">
                <a:solidFill>
                  <a:srgbClr val="142B43"/>
                </a:solidFill>
                <a:latin typeface="Malgun Gothic"/>
                <a:ea typeface="Malgun Gothic"/>
                <a:cs typeface="Malgun Gothic"/>
              </a:rPr>
              <a:t>출처: tests/, docs/week08-status.md, 사용자 실환경 확인.</a:t>
            </a:r>
            <a:endParaRPr lang="ko-KR" sz="135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nSpc>
                <a:spcPct val="120000"/>
              </a:lnSpc>
            </a:pPr>
            <a:r>
              <a:rPr lang="ko-KR" sz="1350" b="0">
                <a:solidFill>
                  <a:srgbClr val="142B43"/>
                </a:solidFill>
                <a:latin typeface="Malgun Gothic"/>
                <a:ea typeface="Malgun Gothic"/>
                <a:cs typeface="Malgun Gothic"/>
              </a:rPr>
              <a:t>[약 45초] 지금까지는 Wi-Fi 품질을 측정하고 저장한 뒤, 시간에 따른 변화와 종합 점수를 확인할 수 있는 기반을 완성했습니다. 다음 9주차에는 위치 좌표와 측정을 연결하고 같은 위치의 반복 측정 평균을 구하겠습니다. 10주차와 11주차에는 Heatmap과 음영지역 탐지를 구현하고, 12주차에는 측정 근거를 제시하는 규칙 기반 진단과 개선 추천을 추가할 계획입니다. 마지막 단계에서는 실제 공간을 반복 측정하며 평가 기준을 보정하고 전체 시스템을 통합하겠습니다. 감사합니다.</a:t>
            </a:r>
            <a:endParaRPr lang="ko-KR" sz="1350"/>
          </a:p>
          <a:p>
            <a:pPr>
              <a:lnSpc>
                <a:spcPct val="120000"/>
              </a:lnSpc>
            </a:pPr>
            <a:r>
              <a:rPr lang="ko-KR" sz="1350" b="0">
                <a:solidFill>
                  <a:srgbClr val="142B43"/>
                </a:solidFill>
                <a:latin typeface="Malgun Gothic"/>
                <a:ea typeface="Malgun Gothic"/>
                <a:cs typeface="Malgun Gothic"/>
              </a:rPr>
              <a:t>출처: plan.md, docs/requirements.md. Heatmap, 공간별 분석, 자동 진단 및 추천은 아직 구현하지 않은 계획 범위다. 저장소: https://github.com/mudkip0122/WIFI-NETWORK-OPTIMIZER</a:t>
            </a:r>
            <a:endParaRPr lang="ko-KR" sz="1350"/>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Wi-Fi 무선 네트워크 품질 분석 및 최적화 시스템">
    <p:bg>
      <p:bgPr>
        <a:solidFill>
          <a:srgbClr val="142B43"/>
        </a:solidFill>
        <a:effectLst/>
      </p:bgPr>
    </p:bg>
    <p:spTree>
      <p:nvGrpSpPr>
        <p:cNvPr id="1" name=""/>
        <p:cNvGrpSpPr/>
        <p:nvPr/>
      </p:nvGrpSpPr>
      <p:grpSpPr>
        <a:xfrm>
          <a:off x="0" y="0"/>
          <a:ext cx="0" cy="0"/>
          <a:chOff x="0" y="0"/>
          <a:chExt cx="0" cy="0"/>
        </a:xfrm>
      </p:grpSpPr>
      <p:sp>
        <p:nvSpPr>
          <p:cNvPr id="2" name="Text 2"/>
          <p:cNvSpPr txBox="1"/>
          <p:nvPr/>
        </p:nvSpPr>
        <p:spPr>
          <a:xfrm>
            <a:off x="704850" y="647700"/>
            <a:ext cx="10477500" cy="428625"/>
          </a:xfrm>
          <a:prstGeom prst="rect">
            <a:avLst/>
          </a:prstGeom>
          <a:noFill/>
          <a:ln>
            <a:noFill/>
          </a:ln>
        </p:spPr>
        <p:txBody>
          <a:bodyPr wrap="square" lIns="0" tIns="0" rIns="0" bIns="0" anchor="t"/>
          <a:lstStyle/>
          <a:p>
            <a:pPr>
              <a:lnSpc>
                <a:spcPct val="120000"/>
              </a:lnSpc>
            </a:pPr>
            <a:r>
              <a:rPr lang="ko-KR" sz="1950" b="1">
                <a:solidFill>
                  <a:srgbClr val="6ED0D5"/>
                </a:solidFill>
                <a:latin typeface="Malgun Gothic"/>
                <a:ea typeface="Malgun Gothic"/>
                <a:cs typeface="Malgun Gothic"/>
              </a:rPr>
              <a:t>1~8주차 개발 결과</a:t>
            </a:r>
            <a:endParaRPr lang="ko-KR" sz="1950"/>
          </a:p>
        </p:txBody>
      </p:sp>
      <p:sp>
        <p:nvSpPr>
          <p:cNvPr id="3" name="Text 3"/>
          <p:cNvSpPr txBox="1"/>
          <p:nvPr/>
        </p:nvSpPr>
        <p:spPr>
          <a:xfrm>
            <a:off x="704850" y="1790700"/>
            <a:ext cx="10572750" cy="1857375"/>
          </a:xfrm>
          <a:prstGeom prst="rect">
            <a:avLst/>
          </a:prstGeom>
          <a:noFill/>
          <a:ln>
            <a:noFill/>
          </a:ln>
        </p:spPr>
        <p:txBody>
          <a:bodyPr wrap="square" lIns="0" tIns="0" rIns="0" bIns="0" anchor="t"/>
          <a:lstStyle/>
          <a:p>
            <a:pPr>
              <a:lnSpc>
                <a:spcPct val="120000"/>
              </a:lnSpc>
            </a:pPr>
            <a:r>
              <a:rPr lang="ko-KR" sz="4500" b="1">
                <a:solidFill>
                  <a:srgbClr val="FFFFFF"/>
                </a:solidFill>
                <a:latin typeface="Malgun Gothic"/>
                <a:ea typeface="Malgun Gothic"/>
                <a:cs typeface="Malgun Gothic"/>
              </a:rPr>
              <a:t>Wi-Fi 무선 네트워크</a:t>
            </a:r>
            <a:endParaRPr lang="ko-KR" sz="4500"/>
          </a:p>
          <a:p>
            <a:pPr>
              <a:lnSpc>
                <a:spcPct val="120000"/>
              </a:lnSpc>
            </a:pPr>
            <a:r>
              <a:rPr lang="ko-KR" sz="4500" b="1">
                <a:solidFill>
                  <a:srgbClr val="FFFFFF"/>
                </a:solidFill>
                <a:latin typeface="Malgun Gothic"/>
                <a:ea typeface="Malgun Gothic"/>
                <a:cs typeface="Malgun Gothic"/>
              </a:rPr>
              <a:t>품질 분석 및 최적화 시스템</a:t>
            </a:r>
            <a:endParaRPr lang="ko-KR" sz="4500"/>
          </a:p>
        </p:txBody>
      </p:sp>
      <p:sp>
        <p:nvSpPr>
          <p:cNvPr id="4" name="Text 4"/>
          <p:cNvSpPr txBox="1"/>
          <p:nvPr/>
        </p:nvSpPr>
        <p:spPr>
          <a:xfrm>
            <a:off x="742950" y="4152900"/>
            <a:ext cx="10477500" cy="1028700"/>
          </a:xfrm>
          <a:prstGeom prst="rect">
            <a:avLst/>
          </a:prstGeom>
          <a:noFill/>
          <a:ln>
            <a:noFill/>
          </a:ln>
        </p:spPr>
        <p:txBody>
          <a:bodyPr wrap="square" lIns="0" tIns="0" rIns="0" bIns="0" anchor="t"/>
          <a:lstStyle/>
          <a:p>
            <a:pPr>
              <a:lnSpc>
                <a:spcPct val="120000"/>
              </a:lnSpc>
            </a:pPr>
            <a:r>
              <a:rPr lang="ko-KR" sz="2250" b="0">
                <a:solidFill>
                  <a:srgbClr val="CDDCE8"/>
                </a:solidFill>
                <a:latin typeface="Malgun Gothic"/>
                <a:ea typeface="Malgun Gothic"/>
                <a:cs typeface="Malgun Gothic"/>
              </a:rPr>
              <a:t>Windows 기반 측정 프로그램</a:t>
            </a:r>
            <a:endParaRPr lang="ko-KR" sz="2250"/>
          </a:p>
          <a:p>
            <a:pPr>
              <a:lnSpc>
                <a:spcPct val="120000"/>
              </a:lnSpc>
            </a:pPr>
            <a:r>
              <a:rPr lang="ko-KR" sz="2250" b="0">
                <a:solidFill>
                  <a:srgbClr val="CDDCE8"/>
                </a:solidFill>
                <a:latin typeface="Malgun Gothic"/>
                <a:ea typeface="Malgun Gothic"/>
                <a:cs typeface="Malgun Gothic"/>
              </a:rPr>
              <a:t>자동 수집, 기록 조회, 실시간 그래프와 품질 점수</a:t>
            </a:r>
            <a:endParaRPr lang="ko-KR" sz="2250"/>
          </a:p>
        </p:txBody>
      </p:sp>
      <p:sp>
        <p:nvSpPr>
          <p:cNvPr id="5" name="Text 5"/>
          <p:cNvSpPr txBox="1"/>
          <p:nvPr/>
        </p:nvSpPr>
        <p:spPr>
          <a:xfrm>
            <a:off x="742950" y="6010275"/>
            <a:ext cx="3810000" cy="333375"/>
          </a:xfrm>
          <a:prstGeom prst="rect">
            <a:avLst/>
          </a:prstGeom>
          <a:noFill/>
          <a:ln>
            <a:noFill/>
          </a:ln>
        </p:spPr>
        <p:txBody>
          <a:bodyPr wrap="square" lIns="0" tIns="0" rIns="0" bIns="0" anchor="t"/>
          <a:lstStyle/>
          <a:p>
            <a:pPr>
              <a:lnSpc>
                <a:spcPct val="120000"/>
              </a:lnSpc>
            </a:pPr>
            <a:r>
              <a:rPr lang="ko-KR" sz="1725" b="0">
                <a:solidFill>
                  <a:srgbClr val="91ABBD"/>
                </a:solidFill>
                <a:latin typeface="Malgun Gothic"/>
                <a:ea typeface="Malgun Gothic"/>
                <a:cs typeface="Malgun Gothic"/>
              </a:rPr>
              <a:t>2026.10.08</a:t>
            </a:r>
            <a:endParaRPr lang="ko-KR" sz="172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프로젝트 배경과 목표">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프로젝트 배경과 목표</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02</a:t>
            </a:r>
            <a:endParaRPr lang="ko-KR" sz="1350"/>
          </a:p>
        </p:txBody>
      </p:sp>
      <p:sp>
        <p:nvSpPr>
          <p:cNvPr id="4" name="Text 4"/>
          <p:cNvSpPr txBox="1"/>
          <p:nvPr/>
        </p:nvSpPr>
        <p:spPr>
          <a:xfrm>
            <a:off x="666750" y="1571625"/>
            <a:ext cx="10858500" cy="714375"/>
          </a:xfrm>
          <a:prstGeom prst="rect">
            <a:avLst/>
          </a:prstGeom>
          <a:noFill/>
          <a:ln>
            <a:noFill/>
          </a:ln>
        </p:spPr>
        <p:txBody>
          <a:bodyPr wrap="square" lIns="0" tIns="0" rIns="0" bIns="0" anchor="t"/>
          <a:lstStyle/>
          <a:p>
            <a:pPr>
              <a:lnSpc>
                <a:spcPct val="120000"/>
              </a:lnSpc>
            </a:pPr>
            <a:r>
              <a:rPr lang="ko-KR" sz="2625" b="1">
                <a:solidFill>
                  <a:srgbClr val="007D86"/>
                </a:solidFill>
                <a:latin typeface="Malgun Gothic"/>
                <a:ea typeface="Malgun Gothic"/>
                <a:cs typeface="Malgun Gothic"/>
              </a:rPr>
              <a:t>연결 정보만으로는 실제 사용 품질을 판단하기 어렵습니다</a:t>
            </a:r>
            <a:endParaRPr lang="ko-KR" sz="2625"/>
          </a:p>
        </p:txBody>
      </p:sp>
      <p:sp>
        <p:nvSpPr>
          <p:cNvPr id="5" name="Text 5"/>
          <p:cNvSpPr txBox="1"/>
          <p:nvPr/>
        </p:nvSpPr>
        <p:spPr>
          <a:xfrm>
            <a:off x="666750" y="2724150"/>
            <a:ext cx="3143250" cy="428625"/>
          </a:xfrm>
          <a:prstGeom prst="rect">
            <a:avLst/>
          </a:prstGeom>
          <a:noFill/>
          <a:ln>
            <a:noFill/>
          </a:ln>
        </p:spPr>
        <p:txBody>
          <a:bodyPr wrap="square" lIns="0" tIns="0" rIns="0" bIns="0" anchor="t"/>
          <a:lstStyle/>
          <a:p>
            <a:pPr>
              <a:lnSpc>
                <a:spcPct val="120000"/>
              </a:lnSpc>
            </a:pPr>
            <a:r>
              <a:rPr lang="ko-KR" sz="2250" b="1">
                <a:solidFill>
                  <a:srgbClr val="142B43"/>
                </a:solidFill>
                <a:latin typeface="Malgun Gothic"/>
                <a:ea typeface="Malgun Gothic"/>
                <a:cs typeface="Malgun Gothic"/>
              </a:rPr>
              <a:t>측정 대상</a:t>
            </a:r>
            <a:endParaRPr lang="ko-KR" sz="2250"/>
          </a:p>
        </p:txBody>
      </p:sp>
      <p:sp>
        <p:nvSpPr>
          <p:cNvPr id="6" name="Text 6"/>
          <p:cNvSpPr txBox="1"/>
          <p:nvPr/>
        </p:nvSpPr>
        <p:spPr>
          <a:xfrm>
            <a:off x="666750" y="3333750"/>
            <a:ext cx="4619625" cy="1638300"/>
          </a:xfrm>
          <a:prstGeom prst="rect">
            <a:avLst/>
          </a:prstGeom>
          <a:noFill/>
          <a:ln>
            <a:noFill/>
          </a:ln>
        </p:spPr>
        <p:txBody>
          <a:bodyPr wrap="square" lIns="0" tIns="0" rIns="0" bIns="0" anchor="t"/>
          <a:lstStyle/>
          <a:p>
            <a:pPr>
              <a:lnSpc>
                <a:spcPct val="120000"/>
              </a:lnSpc>
            </a:pPr>
            <a:r>
              <a:rPr lang="ko-KR" sz="2250" b="0">
                <a:solidFill>
                  <a:srgbClr val="536575"/>
                </a:solidFill>
                <a:latin typeface="Malgun Gothic"/>
                <a:ea typeface="Malgun Gothic"/>
                <a:cs typeface="Malgun Gothic"/>
              </a:rPr>
              <a:t>RSSI와 신호 세기</a:t>
            </a:r>
            <a:endParaRPr lang="ko-KR" sz="2250"/>
          </a:p>
          <a:p>
            <a:pPr>
              <a:lnSpc>
                <a:spcPct val="120000"/>
              </a:lnSpc>
            </a:pPr>
            <a:r>
              <a:rPr lang="ko-KR" sz="2250" b="0">
                <a:solidFill>
                  <a:srgbClr val="536575"/>
                </a:solidFill>
                <a:latin typeface="Malgun Gothic"/>
                <a:ea typeface="Malgun Gothic"/>
                <a:cs typeface="Malgun Gothic"/>
              </a:rPr>
              <a:t>Ping과 패킷 손실</a:t>
            </a:r>
            <a:endParaRPr lang="ko-KR" sz="2250"/>
          </a:p>
          <a:p>
            <a:pPr>
              <a:lnSpc>
                <a:spcPct val="120000"/>
              </a:lnSpc>
            </a:pPr>
            <a:r>
              <a:rPr lang="ko-KR" sz="2250" b="0">
                <a:solidFill>
                  <a:srgbClr val="536575"/>
                </a:solidFill>
                <a:latin typeface="Malgun Gothic"/>
                <a:ea typeface="Malgun Gothic"/>
                <a:cs typeface="Malgun Gothic"/>
              </a:rPr>
              <a:t>다운로드와 업로드 처리량</a:t>
            </a:r>
            <a:endParaRPr lang="ko-KR" sz="2250"/>
          </a:p>
        </p:txBody>
      </p:sp>
      <p:sp>
        <p:nvSpPr>
          <p:cNvPr id="7" name="Text 7"/>
          <p:cNvSpPr txBox="1"/>
          <p:nvPr/>
        </p:nvSpPr>
        <p:spPr>
          <a:xfrm>
            <a:off x="6191250" y="2724150"/>
            <a:ext cx="4762500" cy="428625"/>
          </a:xfrm>
          <a:prstGeom prst="rect">
            <a:avLst/>
          </a:prstGeom>
          <a:noFill/>
          <a:ln>
            <a:noFill/>
          </a:ln>
        </p:spPr>
        <p:txBody>
          <a:bodyPr wrap="square" lIns="0" tIns="0" rIns="0" bIns="0" anchor="t"/>
          <a:lstStyle/>
          <a:p>
            <a:pPr>
              <a:lnSpc>
                <a:spcPct val="120000"/>
              </a:lnSpc>
            </a:pPr>
            <a:r>
              <a:rPr lang="ko-KR" sz="2250" b="1">
                <a:solidFill>
                  <a:srgbClr val="142B43"/>
                </a:solidFill>
                <a:latin typeface="Malgun Gothic"/>
                <a:ea typeface="Malgun Gothic"/>
                <a:cs typeface="Malgun Gothic"/>
              </a:rPr>
              <a:t>최종 목표</a:t>
            </a:r>
            <a:endParaRPr lang="ko-KR" sz="2250"/>
          </a:p>
        </p:txBody>
      </p:sp>
      <p:sp>
        <p:nvSpPr>
          <p:cNvPr id="8" name="Text 8"/>
          <p:cNvSpPr txBox="1"/>
          <p:nvPr/>
        </p:nvSpPr>
        <p:spPr>
          <a:xfrm>
            <a:off x="6191250" y="3333750"/>
            <a:ext cx="5048250" cy="1638300"/>
          </a:xfrm>
          <a:prstGeom prst="rect">
            <a:avLst/>
          </a:prstGeom>
          <a:noFill/>
          <a:ln>
            <a:noFill/>
          </a:ln>
        </p:spPr>
        <p:txBody>
          <a:bodyPr wrap="square" lIns="0" tIns="0" rIns="0" bIns="0" anchor="t"/>
          <a:lstStyle/>
          <a:p>
            <a:pPr>
              <a:lnSpc>
                <a:spcPct val="120000"/>
              </a:lnSpc>
            </a:pPr>
            <a:r>
              <a:rPr lang="ko-KR" sz="2250" b="0">
                <a:solidFill>
                  <a:srgbClr val="536575"/>
                </a:solidFill>
                <a:latin typeface="Malgun Gothic"/>
                <a:ea typeface="Malgun Gothic"/>
                <a:cs typeface="Malgun Gothic"/>
              </a:rPr>
              <a:t>위치별 품질 차이를 기록하고</a:t>
            </a:r>
            <a:endParaRPr lang="ko-KR" sz="2250"/>
          </a:p>
          <a:p>
            <a:pPr>
              <a:lnSpc>
                <a:spcPct val="120000"/>
              </a:lnSpc>
            </a:pPr>
            <a:r>
              <a:rPr lang="ko-KR" sz="2250" b="0">
                <a:solidFill>
                  <a:srgbClr val="536575"/>
                </a:solidFill>
                <a:latin typeface="Malgun Gothic"/>
                <a:ea typeface="Malgun Gothic"/>
                <a:cs typeface="Malgun Gothic"/>
              </a:rPr>
              <a:t>Heatmap으로 음영지역을 확인한 뒤</a:t>
            </a:r>
            <a:endParaRPr lang="ko-KR" sz="2250"/>
          </a:p>
          <a:p>
            <a:pPr>
              <a:lnSpc>
                <a:spcPct val="120000"/>
              </a:lnSpc>
            </a:pPr>
            <a:r>
              <a:rPr lang="ko-KR" sz="2250" b="0">
                <a:solidFill>
                  <a:srgbClr val="536575"/>
                </a:solidFill>
                <a:latin typeface="Malgun Gothic"/>
                <a:ea typeface="Malgun Gothic"/>
                <a:cs typeface="Malgun Gothic"/>
              </a:rPr>
              <a:t>AP 배치와 설정 개선을 제안</a:t>
            </a:r>
            <a:endParaRPr lang="ko-KR" sz="2250"/>
          </a:p>
        </p:txBody>
      </p:sp>
      <p:sp>
        <p:nvSpPr>
          <p:cNvPr id="9" name="Text 9"/>
          <p:cNvSpPr txBox="1"/>
          <p:nvPr/>
        </p:nvSpPr>
        <p:spPr>
          <a:xfrm>
            <a:off x="666750" y="5619750"/>
            <a:ext cx="10858500" cy="476250"/>
          </a:xfrm>
          <a:prstGeom prst="rect">
            <a:avLst/>
          </a:prstGeom>
          <a:noFill/>
          <a:ln>
            <a:noFill/>
          </a:ln>
        </p:spPr>
        <p:txBody>
          <a:bodyPr wrap="square" lIns="0" tIns="0" rIns="0" bIns="0" anchor="t"/>
          <a:lstStyle/>
          <a:p>
            <a:pPr>
              <a:lnSpc>
                <a:spcPct val="120000"/>
              </a:lnSpc>
            </a:pPr>
            <a:r>
              <a:rPr lang="ko-KR" sz="1950" b="1">
                <a:solidFill>
                  <a:srgbClr val="007D86"/>
                </a:solidFill>
                <a:latin typeface="Malgun Gothic"/>
                <a:ea typeface="Malgun Gothic"/>
                <a:cs typeface="Malgun Gothic"/>
              </a:rPr>
              <a:t>현재 완료 범위: 자동 측정, 저장, Dashboard, 그래프, 품질 평가</a:t>
            </a:r>
            <a:endParaRPr lang="ko-KR" sz="19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1~8주차 개발 진행">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1~8주차 개발 진행</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03</a:t>
            </a:r>
            <a:endParaRPr lang="ko-KR" sz="1350"/>
          </a:p>
        </p:txBody>
      </p:sp>
      <p:graphicFrame>
        <p:nvGraphicFramePr>
          <p:cNvPr id="4" name="Table 4"/>
          <p:cNvGraphicFramePr/>
          <p:nvPr/>
        </p:nvGraphicFramePr>
        <p:xfrm>
          <a:off x="666750" y="1657350"/>
          <a:ext cx="10858500" cy="3714750"/>
        </p:xfrm>
        <a:graphic>
          <a:graphicData uri="http://schemas.openxmlformats.org/drawingml/2006/table">
            <a:tbl>
              <a:tblPr firstRow="1" bandRow="0"/>
              <a:tblGrid>
                <a:gridCol w="1524000"/>
                <a:gridCol w="7048500"/>
                <a:gridCol w="2286000"/>
              </a:tblGrid>
              <a:tr h="619125">
                <a:tc>
                  <a:txBody>
                    <a:bodyPr/>
                    <a:lstStyle/>
                    <a:p>
                      <a:pPr>
                        <a:lnSpc>
                          <a:spcPct val="120000"/>
                        </a:lnSpc>
                      </a:pPr>
                      <a:r>
                        <a:rPr lang="ko-KR" sz="1875" b="1">
                          <a:solidFill>
                            <a:srgbClr val="FFFFFF"/>
                          </a:solidFill>
                          <a:latin typeface="Malgun Gothic"/>
                          <a:ea typeface="Malgun Gothic"/>
                          <a:cs typeface="Malgun Gothic"/>
                        </a:rPr>
                        <a:t>주차</a:t>
                      </a:r>
                      <a:endParaRPr lang="ko-KR" sz="1875"/>
                    </a:p>
                  </a:txBody>
                  <a:tcPr marL="152400" marR="114300" marT="114300" marB="76200" anchor="ctr">
                    <a:lnL w="0">
                      <a:noFill/>
                    </a:lnL>
                    <a:lnR w="0">
                      <a:noFill/>
                    </a:lnR>
                    <a:lnT w="0">
                      <a:noFill/>
                    </a:lnT>
                    <a:lnB w="12700">
                      <a:solidFill>
                        <a:srgbClr val="D9E2E8"/>
                      </a:solidFill>
                    </a:lnB>
                    <a:solidFill>
                      <a:srgbClr val="142B43"/>
                    </a:solidFill>
                  </a:tcPr>
                </a:tc>
                <a:tc>
                  <a:txBody>
                    <a:bodyPr/>
                    <a:lstStyle/>
                    <a:p>
                      <a:pPr>
                        <a:lnSpc>
                          <a:spcPct val="120000"/>
                        </a:lnSpc>
                      </a:pPr>
                      <a:r>
                        <a:rPr lang="ko-KR" sz="1875" b="1">
                          <a:solidFill>
                            <a:srgbClr val="FFFFFF"/>
                          </a:solidFill>
                          <a:latin typeface="Malgun Gothic"/>
                          <a:ea typeface="Malgun Gothic"/>
                          <a:cs typeface="Malgun Gothic"/>
                        </a:rPr>
                        <a:t>구현 내용</a:t>
                      </a:r>
                      <a:endParaRPr lang="ko-KR" sz="1875"/>
                    </a:p>
                  </a:txBody>
                  <a:tcPr marL="152400" marR="114300" marT="114300" marB="76200" anchor="ctr">
                    <a:lnL w="0">
                      <a:noFill/>
                    </a:lnL>
                    <a:lnR w="0">
                      <a:noFill/>
                    </a:lnR>
                    <a:lnT w="0">
                      <a:noFill/>
                    </a:lnT>
                    <a:lnB w="12700">
                      <a:solidFill>
                        <a:srgbClr val="D9E2E8"/>
                      </a:solidFill>
                    </a:lnB>
                    <a:solidFill>
                      <a:srgbClr val="142B43"/>
                    </a:solidFill>
                  </a:tcPr>
                </a:tc>
                <a:tc>
                  <a:txBody>
                    <a:bodyPr/>
                    <a:lstStyle/>
                    <a:p>
                      <a:pPr>
                        <a:lnSpc>
                          <a:spcPct val="120000"/>
                        </a:lnSpc>
                      </a:pPr>
                      <a:r>
                        <a:rPr lang="ko-KR" sz="1875" b="1">
                          <a:solidFill>
                            <a:srgbClr val="FFFFFF"/>
                          </a:solidFill>
                          <a:latin typeface="Malgun Gothic"/>
                          <a:ea typeface="Malgun Gothic"/>
                          <a:cs typeface="Malgun Gothic"/>
                        </a:rPr>
                        <a:t>현재 상태</a:t>
                      </a:r>
                      <a:endParaRPr lang="ko-KR" sz="1875"/>
                    </a:p>
                  </a:txBody>
                  <a:tcPr marL="152400" marR="114300" marT="114300" marB="76200" anchor="ctr">
                    <a:lnL w="0">
                      <a:noFill/>
                    </a:lnL>
                    <a:lnR w="0">
                      <a:noFill/>
                    </a:lnR>
                    <a:lnT w="0">
                      <a:noFill/>
                    </a:lnT>
                    <a:lnB w="12700">
                      <a:solidFill>
                        <a:srgbClr val="D9E2E8"/>
                      </a:solidFill>
                    </a:lnB>
                    <a:solidFill>
                      <a:srgbClr val="142B43"/>
                    </a:solidFill>
                  </a:tcPr>
                </a:tc>
              </a:tr>
              <a:tr h="619125">
                <a:tc>
                  <a:txBody>
                    <a:bodyPr/>
                    <a:lstStyle/>
                    <a:p>
                      <a:pPr>
                        <a:lnSpc>
                          <a:spcPct val="120000"/>
                        </a:lnSpc>
                      </a:pPr>
                      <a:r>
                        <a:rPr lang="ko-KR" sz="1875" b="0">
                          <a:solidFill>
                            <a:srgbClr val="142B43"/>
                          </a:solidFill>
                          <a:latin typeface="Malgun Gothic"/>
                          <a:ea typeface="Malgun Gothic"/>
                          <a:cs typeface="Malgun Gothic"/>
                        </a:rPr>
                        <a:t>1주차</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요구사항, 구조 설계, 개발 환경</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완료</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619125">
                <a:tc>
                  <a:txBody>
                    <a:bodyPr/>
                    <a:lstStyle/>
                    <a:p>
                      <a:pPr>
                        <a:lnSpc>
                          <a:spcPct val="120000"/>
                        </a:lnSpc>
                      </a:pPr>
                      <a:r>
                        <a:rPr lang="ko-KR" sz="1875" b="0">
                          <a:solidFill>
                            <a:srgbClr val="142B43"/>
                          </a:solidFill>
                          <a:latin typeface="Malgun Gothic"/>
                          <a:ea typeface="Malgun Gothic"/>
                          <a:cs typeface="Malgun Gothic"/>
                        </a:rPr>
                        <a:t>2~3주차</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Wi-Fi 정보, Ping, 손실, 속도 측정</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완료</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r h="619125">
                <a:tc>
                  <a:txBody>
                    <a:bodyPr/>
                    <a:lstStyle/>
                    <a:p>
                      <a:pPr>
                        <a:lnSpc>
                          <a:spcPct val="120000"/>
                        </a:lnSpc>
                      </a:pPr>
                      <a:r>
                        <a:rPr lang="ko-KR" sz="1875" b="0">
                          <a:solidFill>
                            <a:srgbClr val="142B43"/>
                          </a:solidFill>
                          <a:latin typeface="Malgun Gothic"/>
                          <a:ea typeface="Malgun Gothic"/>
                          <a:cs typeface="Malgun Gothic"/>
                        </a:rPr>
                        <a:t>4~5주차</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Collector 통합, SQLite 저장과 조회</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완료</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619125">
                <a:tc>
                  <a:txBody>
                    <a:bodyPr/>
                    <a:lstStyle/>
                    <a:p>
                      <a:pPr>
                        <a:lnSpc>
                          <a:spcPct val="120000"/>
                        </a:lnSpc>
                      </a:pPr>
                      <a:r>
                        <a:rPr lang="ko-KR" sz="1875" b="0">
                          <a:solidFill>
                            <a:srgbClr val="142B43"/>
                          </a:solidFill>
                          <a:latin typeface="Malgun Gothic"/>
                          <a:ea typeface="Malgun Gothic"/>
                          <a:cs typeface="Malgun Gothic"/>
                        </a:rPr>
                        <a:t>6~7주차</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Dashboard, 최근 100개 실시간 그래프</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완료</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r h="619125">
                <a:tc>
                  <a:txBody>
                    <a:bodyPr/>
                    <a:lstStyle/>
                    <a:p>
                      <a:pPr>
                        <a:lnSpc>
                          <a:spcPct val="120000"/>
                        </a:lnSpc>
                      </a:pPr>
                      <a:r>
                        <a:rPr lang="ko-KR" sz="1875" b="0">
                          <a:solidFill>
                            <a:srgbClr val="142B43"/>
                          </a:solidFill>
                          <a:latin typeface="Malgun Gothic"/>
                          <a:ea typeface="Malgun Gothic"/>
                          <a:cs typeface="Malgun Gothic"/>
                        </a:rPr>
                        <a:t>8주차</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종합 점수, 5단계 등급, 누락 지표 표시</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완료</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bl>
          </a:graphicData>
        </a:graphic>
      </p:graphicFrame>
      <p:sp>
        <p:nvSpPr>
          <p:cNvPr id="5" name="Text 5"/>
          <p:cNvSpPr txBox="1"/>
          <p:nvPr/>
        </p:nvSpPr>
        <p:spPr>
          <a:xfrm>
            <a:off x="666750" y="5772150"/>
            <a:ext cx="10858500" cy="381000"/>
          </a:xfrm>
          <a:prstGeom prst="rect">
            <a:avLst/>
          </a:prstGeom>
          <a:noFill/>
          <a:ln>
            <a:noFill/>
          </a:ln>
        </p:spPr>
        <p:txBody>
          <a:bodyPr wrap="square" lIns="0" tIns="0" rIns="0" bIns="0" anchor="t"/>
          <a:lstStyle/>
          <a:p>
            <a:pPr>
              <a:lnSpc>
                <a:spcPct val="120000"/>
              </a:lnSpc>
            </a:pPr>
            <a:r>
              <a:rPr lang="ko-KR" sz="1875" b="0">
                <a:solidFill>
                  <a:srgbClr val="007D86"/>
                </a:solidFill>
                <a:latin typeface="Malgun Gothic"/>
                <a:ea typeface="Malgun Gothic"/>
                <a:cs typeface="Malgun Gothic"/>
              </a:rPr>
              <a:t>Python 3.13  /  Tkinter  /  Matplotlib  /  SQLite  /  GitHub</a:t>
            </a:r>
            <a:endParaRPr lang="ko-KR" sz="18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Wi-Fi와 네트워크 품질 측정">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Wi-Fi와 네트워크 품질 측정</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04</a:t>
            </a:r>
            <a:endParaRPr lang="ko-KR" sz="1350"/>
          </a:p>
        </p:txBody>
      </p:sp>
      <p:graphicFrame>
        <p:nvGraphicFramePr>
          <p:cNvPr id="4" name="Table 4"/>
          <p:cNvGraphicFramePr/>
          <p:nvPr/>
        </p:nvGraphicFramePr>
        <p:xfrm>
          <a:off x="666750" y="1600200"/>
          <a:ext cx="10858500" cy="3714750"/>
        </p:xfrm>
        <a:graphic>
          <a:graphicData uri="http://schemas.openxmlformats.org/drawingml/2006/table">
            <a:tbl>
              <a:tblPr firstRow="1" bandRow="0"/>
              <a:tblGrid>
                <a:gridCol w="3429000"/>
                <a:gridCol w="7429500"/>
              </a:tblGrid>
              <a:tr h="742950">
                <a:tc>
                  <a:txBody>
                    <a:bodyPr/>
                    <a:lstStyle/>
                    <a:p>
                      <a:pPr>
                        <a:lnSpc>
                          <a:spcPct val="120000"/>
                        </a:lnSpc>
                      </a:pPr>
                      <a:r>
                        <a:rPr lang="ko-KR" sz="1875" b="1">
                          <a:solidFill>
                            <a:srgbClr val="FFFFFF"/>
                          </a:solidFill>
                          <a:latin typeface="Malgun Gothic"/>
                          <a:ea typeface="Malgun Gothic"/>
                          <a:cs typeface="Malgun Gothic"/>
                        </a:rPr>
                        <a:t>수집 항목</a:t>
                      </a:r>
                      <a:endParaRPr lang="ko-KR" sz="1875"/>
                    </a:p>
                  </a:txBody>
                  <a:tcPr marL="152400" marR="114300" marT="114300" marB="76200" anchor="ctr">
                    <a:lnL w="0">
                      <a:noFill/>
                    </a:lnL>
                    <a:lnR w="0">
                      <a:noFill/>
                    </a:lnR>
                    <a:lnT w="0">
                      <a:noFill/>
                    </a:lnT>
                    <a:lnB w="12700">
                      <a:solidFill>
                        <a:srgbClr val="D9E2E8"/>
                      </a:solidFill>
                    </a:lnB>
                    <a:solidFill>
                      <a:srgbClr val="142B43"/>
                    </a:solidFill>
                  </a:tcPr>
                </a:tc>
                <a:tc>
                  <a:txBody>
                    <a:bodyPr/>
                    <a:lstStyle/>
                    <a:p>
                      <a:pPr>
                        <a:lnSpc>
                          <a:spcPct val="120000"/>
                        </a:lnSpc>
                      </a:pPr>
                      <a:r>
                        <a:rPr lang="ko-KR" sz="1875" b="1">
                          <a:solidFill>
                            <a:srgbClr val="FFFFFF"/>
                          </a:solidFill>
                          <a:latin typeface="Malgun Gothic"/>
                          <a:ea typeface="Malgun Gothic"/>
                          <a:cs typeface="Malgun Gothic"/>
                        </a:rPr>
                        <a:t>측정 방법과 의미</a:t>
                      </a:r>
                      <a:endParaRPr lang="ko-KR" sz="1875"/>
                    </a:p>
                  </a:txBody>
                  <a:tcPr marL="152400" marR="114300" marT="114300" marB="76200" anchor="ctr">
                    <a:lnL w="0">
                      <a:noFill/>
                    </a:lnL>
                    <a:lnR w="0">
                      <a:noFill/>
                    </a:lnR>
                    <a:lnT w="0">
                      <a:noFill/>
                    </a:lnT>
                    <a:lnB w="12700">
                      <a:solidFill>
                        <a:srgbClr val="D9E2E8"/>
                      </a:solidFill>
                    </a:lnB>
                    <a:solidFill>
                      <a:srgbClr val="142B43"/>
                    </a:solidFill>
                  </a:tcPr>
                </a:tc>
              </a:tr>
              <a:tr h="742950">
                <a:tc>
                  <a:txBody>
                    <a:bodyPr/>
                    <a:lstStyle/>
                    <a:p>
                      <a:pPr>
                        <a:lnSpc>
                          <a:spcPct val="120000"/>
                        </a:lnSpc>
                      </a:pPr>
                      <a:r>
                        <a:rPr lang="ko-KR" sz="1875" b="0">
                          <a:solidFill>
                            <a:srgbClr val="142B43"/>
                          </a:solidFill>
                          <a:latin typeface="Malgun Gothic"/>
                          <a:ea typeface="Malgun Gothic"/>
                          <a:cs typeface="Malgun Gothic"/>
                        </a:rPr>
                        <a:t>SSID, BSSID, 채널, 대역</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netsh로 현재 연결된 AP 정보 수집</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742950">
                <a:tc>
                  <a:txBody>
                    <a:bodyPr/>
                    <a:lstStyle/>
                    <a:p>
                      <a:pPr>
                        <a:lnSpc>
                          <a:spcPct val="120000"/>
                        </a:lnSpc>
                      </a:pPr>
                      <a:r>
                        <a:rPr lang="ko-KR" sz="1875" b="0">
                          <a:solidFill>
                            <a:srgbClr val="142B43"/>
                          </a:solidFill>
                          <a:latin typeface="Malgun Gothic"/>
                          <a:ea typeface="Malgun Gothic"/>
                          <a:cs typeface="Malgun Gothic"/>
                        </a:rPr>
                        <a:t>RSSI (dBm)</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Native Wi-Fi API 조회, 추정값은 출처 구분</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r h="742950">
                <a:tc>
                  <a:txBody>
                    <a:bodyPr/>
                    <a:lstStyle/>
                    <a:p>
                      <a:pPr>
                        <a:lnSpc>
                          <a:spcPct val="120000"/>
                        </a:lnSpc>
                      </a:pPr>
                      <a:r>
                        <a:rPr lang="ko-KR" sz="1875" b="0">
                          <a:solidFill>
                            <a:srgbClr val="142B43"/>
                          </a:solidFill>
                          <a:latin typeface="Malgun Gothic"/>
                          <a:ea typeface="Malgun Gothic"/>
                          <a:cs typeface="Malgun Gothic"/>
                        </a:rPr>
                        <a:t>Ping, 패킷 손실</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Windows ICMP API, 게이트웨이와 외부 대상 분리</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742950">
                <a:tc>
                  <a:txBody>
                    <a:bodyPr/>
                    <a:lstStyle/>
                    <a:p>
                      <a:pPr>
                        <a:lnSpc>
                          <a:spcPct val="120000"/>
                        </a:lnSpc>
                      </a:pPr>
                      <a:r>
                        <a:rPr lang="ko-KR" sz="1875" b="0">
                          <a:solidFill>
                            <a:srgbClr val="142B43"/>
                          </a:solidFill>
                          <a:latin typeface="Malgun Gothic"/>
                          <a:ea typeface="Malgun Gothic"/>
                          <a:cs typeface="Malgun Gothic"/>
                        </a:rPr>
                        <a:t>Download, Upload (Mbps)</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수동 예약, 단일 HTTPS 처리량 측정</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bl>
          </a:graphicData>
        </a:graphic>
      </p:graphicFrame>
      <p:sp>
        <p:nvSpPr>
          <p:cNvPr id="5" name="Text 5"/>
          <p:cNvSpPr txBox="1"/>
          <p:nvPr/>
        </p:nvSpPr>
        <p:spPr>
          <a:xfrm>
            <a:off x="666750" y="5676900"/>
            <a:ext cx="10858500" cy="381000"/>
          </a:xfrm>
          <a:prstGeom prst="rect">
            <a:avLst/>
          </a:prstGeom>
          <a:noFill/>
          <a:ln>
            <a:noFill/>
          </a:ln>
        </p:spPr>
        <p:txBody>
          <a:bodyPr wrap="square" lIns="0" tIns="0" rIns="0" bIns="0" anchor="t"/>
          <a:lstStyle/>
          <a:p>
            <a:pPr>
              <a:lnSpc>
                <a:spcPct val="120000"/>
              </a:lnSpc>
            </a:pPr>
            <a:r>
              <a:rPr lang="ko-KR" sz="1950" b="1">
                <a:solidFill>
                  <a:srgbClr val="007D86"/>
                </a:solidFill>
                <a:latin typeface="Malgun Gothic"/>
                <a:ea typeface="Malgun Gothic"/>
                <a:cs typeface="Malgun Gothic"/>
              </a:rPr>
              <a:t>속도 포함 1회 측정: 다운로드 10 MB + 업로드 2 MB</a:t>
            </a:r>
            <a:endParaRPr lang="ko-KR" sz="19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수집과 저장 구조">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수집과 저장 구조</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05</a:t>
            </a:r>
            <a:endParaRPr lang="ko-KR" sz="1350"/>
          </a:p>
        </p:txBody>
      </p:sp>
      <p:sp>
        <p:nvSpPr>
          <p:cNvPr id="4" name="Text 4"/>
          <p:cNvSpPr txBox="1"/>
          <p:nvPr/>
        </p:nvSpPr>
        <p:spPr>
          <a:xfrm>
            <a:off x="666750" y="1695450"/>
            <a:ext cx="4000500" cy="438150"/>
          </a:xfrm>
          <a:prstGeom prst="rect">
            <a:avLst/>
          </a:prstGeom>
          <a:noFill/>
          <a:ln>
            <a:noFill/>
          </a:ln>
        </p:spPr>
        <p:txBody>
          <a:bodyPr wrap="square" lIns="0" tIns="0" rIns="0" bIns="0" anchor="t"/>
          <a:lstStyle/>
          <a:p>
            <a:pPr>
              <a:lnSpc>
                <a:spcPct val="120000"/>
              </a:lnSpc>
            </a:pPr>
            <a:r>
              <a:rPr lang="ko-KR" sz="2475" b="1">
                <a:solidFill>
                  <a:srgbClr val="007D86"/>
                </a:solidFill>
                <a:latin typeface="Malgun Gothic"/>
                <a:ea typeface="Malgun Gothic"/>
                <a:cs typeface="Malgun Gothic"/>
              </a:rPr>
              <a:t>01  WiFiCollector</a:t>
            </a:r>
            <a:endParaRPr lang="ko-KR" sz="2475"/>
          </a:p>
        </p:txBody>
      </p:sp>
      <p:sp>
        <p:nvSpPr>
          <p:cNvPr id="5" name="Text 5"/>
          <p:cNvSpPr txBox="1"/>
          <p:nvPr/>
        </p:nvSpPr>
        <p:spPr>
          <a:xfrm>
            <a:off x="666750" y="2286000"/>
            <a:ext cx="4667250" cy="952500"/>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작업자에서 순차 측정</a:t>
            </a:r>
            <a:endParaRPr lang="ko-KR" sz="2100"/>
          </a:p>
          <a:p>
            <a:pPr>
              <a:lnSpc>
                <a:spcPct val="120000"/>
              </a:lnSpc>
            </a:pPr>
            <a:r>
              <a:rPr lang="ko-KR" sz="2100" b="0">
                <a:solidFill>
                  <a:srgbClr val="536575"/>
                </a:solidFill>
                <a:latin typeface="Malgun Gothic"/>
                <a:ea typeface="Malgun Gothic"/>
                <a:cs typeface="Malgun Gothic"/>
              </a:rPr>
              <a:t>중복 시작 방지, 중지와 재시작</a:t>
            </a:r>
            <a:endParaRPr lang="ko-KR" sz="2100"/>
          </a:p>
        </p:txBody>
      </p:sp>
      <p:sp>
        <p:nvSpPr>
          <p:cNvPr id="6" name="Text 6"/>
          <p:cNvSpPr txBox="1"/>
          <p:nvPr/>
        </p:nvSpPr>
        <p:spPr>
          <a:xfrm>
            <a:off x="6429375" y="1695450"/>
            <a:ext cx="4762500" cy="438150"/>
          </a:xfrm>
          <a:prstGeom prst="rect">
            <a:avLst/>
          </a:prstGeom>
          <a:noFill/>
          <a:ln>
            <a:noFill/>
          </a:ln>
        </p:spPr>
        <p:txBody>
          <a:bodyPr wrap="square" lIns="0" tIns="0" rIns="0" bIns="0" anchor="t"/>
          <a:lstStyle/>
          <a:p>
            <a:pPr>
              <a:lnSpc>
                <a:spcPct val="120000"/>
              </a:lnSpc>
            </a:pPr>
            <a:r>
              <a:rPr lang="ko-KR" sz="2475" b="1">
                <a:solidFill>
                  <a:srgbClr val="007D86"/>
                </a:solidFill>
                <a:latin typeface="Malgun Gothic"/>
                <a:ea typeface="Malgun Gothic"/>
                <a:cs typeface="Malgun Gothic"/>
              </a:rPr>
              <a:t>02  측정 결과</a:t>
            </a:r>
            <a:endParaRPr lang="ko-KR" sz="2475"/>
          </a:p>
        </p:txBody>
      </p:sp>
      <p:sp>
        <p:nvSpPr>
          <p:cNvPr id="7" name="Text 7"/>
          <p:cNvSpPr txBox="1"/>
          <p:nvPr/>
        </p:nvSpPr>
        <p:spPr>
          <a:xfrm>
            <a:off x="6429375" y="2286000"/>
            <a:ext cx="4905375" cy="952500"/>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단위, 시각, 출처와 상태 기록</a:t>
            </a:r>
            <a:endParaRPr lang="ko-KR" sz="2100"/>
          </a:p>
          <a:p>
            <a:pPr>
              <a:lnSpc>
                <a:spcPct val="120000"/>
              </a:lnSpc>
            </a:pPr>
            <a:r>
              <a:rPr lang="ko-KR" sz="2100" b="0">
                <a:solidFill>
                  <a:srgbClr val="536575"/>
                </a:solidFill>
                <a:latin typeface="Malgun Gothic"/>
                <a:ea typeface="Malgun Gothic"/>
                <a:cs typeface="Malgun Gothic"/>
              </a:rPr>
              <a:t>품질 계산 후 결과 큐로 전달</a:t>
            </a:r>
            <a:endParaRPr lang="ko-KR" sz="2100"/>
          </a:p>
        </p:txBody>
      </p:sp>
      <p:sp>
        <p:nvSpPr>
          <p:cNvPr id="8" name="Text 8"/>
          <p:cNvSpPr txBox="1"/>
          <p:nvPr/>
        </p:nvSpPr>
        <p:spPr>
          <a:xfrm>
            <a:off x="666750" y="3781425"/>
            <a:ext cx="4762500" cy="438150"/>
          </a:xfrm>
          <a:prstGeom prst="rect">
            <a:avLst/>
          </a:prstGeom>
          <a:noFill/>
          <a:ln>
            <a:noFill/>
          </a:ln>
        </p:spPr>
        <p:txBody>
          <a:bodyPr wrap="square" lIns="0" tIns="0" rIns="0" bIns="0" anchor="t"/>
          <a:lstStyle/>
          <a:p>
            <a:pPr>
              <a:lnSpc>
                <a:spcPct val="120000"/>
              </a:lnSpc>
            </a:pPr>
            <a:r>
              <a:rPr lang="ko-KR" sz="2475" b="1">
                <a:solidFill>
                  <a:srgbClr val="007D86"/>
                </a:solidFill>
                <a:latin typeface="Malgun Gothic"/>
                <a:ea typeface="Malgun Gothic"/>
                <a:cs typeface="Malgun Gothic"/>
              </a:rPr>
              <a:t>03  SQLite 저장</a:t>
            </a:r>
            <a:endParaRPr lang="ko-KR" sz="2475"/>
          </a:p>
        </p:txBody>
      </p:sp>
      <p:sp>
        <p:nvSpPr>
          <p:cNvPr id="9" name="Text 9"/>
          <p:cNvSpPr txBox="1"/>
          <p:nvPr/>
        </p:nvSpPr>
        <p:spPr>
          <a:xfrm>
            <a:off x="666750" y="4371975"/>
            <a:ext cx="4857750" cy="952500"/>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측정값과 원본 JSON 자동 저장</a:t>
            </a:r>
            <a:endParaRPr lang="ko-KR" sz="2100"/>
          </a:p>
          <a:p>
            <a:pPr>
              <a:lnSpc>
                <a:spcPct val="120000"/>
              </a:lnSpc>
            </a:pPr>
            <a:r>
              <a:rPr lang="ko-KR" sz="2100" b="0">
                <a:solidFill>
                  <a:srgbClr val="536575"/>
                </a:solidFill>
                <a:latin typeface="Malgun Gothic"/>
                <a:ea typeface="Malgun Gothic"/>
                <a:cs typeface="Malgun Gothic"/>
              </a:rPr>
              <a:t>세션, AP, 대상별 결과 보존</a:t>
            </a:r>
            <a:endParaRPr lang="ko-KR" sz="2100"/>
          </a:p>
        </p:txBody>
      </p:sp>
      <p:sp>
        <p:nvSpPr>
          <p:cNvPr id="10" name="Text 10"/>
          <p:cNvSpPr txBox="1"/>
          <p:nvPr/>
        </p:nvSpPr>
        <p:spPr>
          <a:xfrm>
            <a:off x="6429375" y="3781425"/>
            <a:ext cx="4953000" cy="438150"/>
          </a:xfrm>
          <a:prstGeom prst="rect">
            <a:avLst/>
          </a:prstGeom>
          <a:noFill/>
          <a:ln>
            <a:noFill/>
          </a:ln>
        </p:spPr>
        <p:txBody>
          <a:bodyPr wrap="square" lIns="0" tIns="0" rIns="0" bIns="0" anchor="t"/>
          <a:lstStyle/>
          <a:p>
            <a:pPr>
              <a:lnSpc>
                <a:spcPct val="120000"/>
              </a:lnSpc>
            </a:pPr>
            <a:r>
              <a:rPr lang="ko-KR" sz="2475" b="1">
                <a:solidFill>
                  <a:srgbClr val="007D86"/>
                </a:solidFill>
                <a:latin typeface="Malgun Gothic"/>
                <a:ea typeface="Malgun Gothic"/>
                <a:cs typeface="Malgun Gothic"/>
              </a:rPr>
              <a:t>04  화면과 기록 조회</a:t>
            </a:r>
            <a:endParaRPr lang="ko-KR" sz="2475"/>
          </a:p>
        </p:txBody>
      </p:sp>
      <p:sp>
        <p:nvSpPr>
          <p:cNvPr id="11" name="Text 11"/>
          <p:cNvSpPr txBox="1"/>
          <p:nvPr/>
        </p:nvSpPr>
        <p:spPr>
          <a:xfrm>
            <a:off x="6429375" y="4371975"/>
            <a:ext cx="4953000" cy="952500"/>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메인 스레드에서 화면 갱신</a:t>
            </a:r>
            <a:endParaRPr lang="ko-KR" sz="2100"/>
          </a:p>
          <a:p>
            <a:pPr>
              <a:lnSpc>
                <a:spcPct val="120000"/>
              </a:lnSpc>
            </a:pPr>
            <a:r>
              <a:rPr lang="ko-KR" sz="2100" b="0">
                <a:solidFill>
                  <a:srgbClr val="536575"/>
                </a:solidFill>
                <a:latin typeface="Malgun Gothic"/>
                <a:ea typeface="Malgun Gothic"/>
                <a:cs typeface="Malgun Gothic"/>
              </a:rPr>
              <a:t>시간, AP, 세션 기준으로 기록 조회</a:t>
            </a:r>
            <a:endParaRPr lang="ko-KR" sz="2100"/>
          </a:p>
        </p:txBody>
      </p:sp>
      <p:sp>
        <p:nvSpPr>
          <p:cNvPr id="12" name="Text 12"/>
          <p:cNvSpPr txBox="1"/>
          <p:nvPr/>
        </p:nvSpPr>
        <p:spPr>
          <a:xfrm>
            <a:off x="666750" y="5753100"/>
            <a:ext cx="10858500" cy="381000"/>
          </a:xfrm>
          <a:prstGeom prst="rect">
            <a:avLst/>
          </a:prstGeom>
          <a:noFill/>
          <a:ln>
            <a:noFill/>
          </a:ln>
        </p:spPr>
        <p:txBody>
          <a:bodyPr wrap="square" lIns="0" tIns="0" rIns="0" bIns="0" anchor="t"/>
          <a:lstStyle/>
          <a:p>
            <a:pPr>
              <a:lnSpc>
                <a:spcPct val="120000"/>
              </a:lnSpc>
            </a:pPr>
            <a:r>
              <a:rPr lang="ko-KR" sz="1800" b="0">
                <a:solidFill>
                  <a:srgbClr val="536575"/>
                </a:solidFill>
                <a:latin typeface="Malgun Gothic"/>
                <a:ea typeface="Malgun Gothic"/>
                <a:cs typeface="Malgun Gothic"/>
              </a:rPr>
              <a:t>측정 완료 후 기본 5초 대기, 측정 소요 시간은 별도</a:t>
            </a:r>
            <a:endParaRPr lang="ko-KR"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Dashboard와 실시간 그래프">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Dashboard와 실시간 그래프</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06</a:t>
            </a:r>
            <a:endParaRPr lang="ko-KR" sz="1350"/>
          </a:p>
        </p:txBody>
      </p:sp>
      <p:sp>
        <p:nvSpPr>
          <p:cNvPr id="4" name="Text 4"/>
          <p:cNvSpPr txBox="1"/>
          <p:nvPr/>
        </p:nvSpPr>
        <p:spPr>
          <a:xfrm>
            <a:off x="666750" y="1581150"/>
            <a:ext cx="10858500" cy="571500"/>
          </a:xfrm>
          <a:prstGeom prst="rect">
            <a:avLst/>
          </a:prstGeom>
          <a:noFill/>
          <a:ln>
            <a:noFill/>
          </a:ln>
        </p:spPr>
        <p:txBody>
          <a:bodyPr wrap="square" lIns="0" tIns="0" rIns="0" bIns="0" anchor="t"/>
          <a:lstStyle/>
          <a:p>
            <a:pPr>
              <a:lnSpc>
                <a:spcPct val="120000"/>
              </a:lnSpc>
            </a:pPr>
            <a:r>
              <a:rPr lang="ko-KR" sz="2700" b="1">
                <a:solidFill>
                  <a:srgbClr val="007D86"/>
                </a:solidFill>
                <a:latin typeface="Malgun Gothic"/>
                <a:ea typeface="Malgun Gothic"/>
                <a:cs typeface="Malgun Gothic"/>
              </a:rPr>
              <a:t>한 화면에서 현재 측정값과 변화 추세를 확인</a:t>
            </a:r>
            <a:endParaRPr lang="ko-KR" sz="2700"/>
          </a:p>
        </p:txBody>
      </p:sp>
      <p:sp>
        <p:nvSpPr>
          <p:cNvPr id="5" name="Text 5"/>
          <p:cNvSpPr txBox="1"/>
          <p:nvPr/>
        </p:nvSpPr>
        <p:spPr>
          <a:xfrm>
            <a:off x="666750" y="2667000"/>
            <a:ext cx="4762500" cy="428625"/>
          </a:xfrm>
          <a:prstGeom prst="rect">
            <a:avLst/>
          </a:prstGeom>
          <a:noFill/>
          <a:ln>
            <a:noFill/>
          </a:ln>
        </p:spPr>
        <p:txBody>
          <a:bodyPr wrap="square" lIns="0" tIns="0" rIns="0" bIns="0" anchor="t"/>
          <a:lstStyle/>
          <a:p>
            <a:pPr>
              <a:lnSpc>
                <a:spcPct val="120000"/>
              </a:lnSpc>
            </a:pPr>
            <a:r>
              <a:rPr lang="ko-KR" sz="2475" b="1">
                <a:solidFill>
                  <a:srgbClr val="142B43"/>
                </a:solidFill>
                <a:latin typeface="Malgun Gothic"/>
                <a:ea typeface="Malgun Gothic"/>
                <a:cs typeface="Malgun Gothic"/>
              </a:rPr>
              <a:t>Dashboard</a:t>
            </a:r>
            <a:endParaRPr lang="ko-KR" sz="2475"/>
          </a:p>
        </p:txBody>
      </p:sp>
      <p:sp>
        <p:nvSpPr>
          <p:cNvPr id="6" name="Text 6"/>
          <p:cNvSpPr txBox="1"/>
          <p:nvPr/>
        </p:nvSpPr>
        <p:spPr>
          <a:xfrm>
            <a:off x="666750" y="3352800"/>
            <a:ext cx="5191125" cy="1962150"/>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연결 정보, RSSI, 채널과 대역</a:t>
            </a:r>
            <a:endParaRPr lang="ko-KR" sz="2100"/>
          </a:p>
          <a:p>
            <a:pPr>
              <a:lnSpc>
                <a:spcPct val="120000"/>
              </a:lnSpc>
            </a:pPr>
            <a:r>
              <a:rPr lang="ko-KR" sz="2100" b="0">
                <a:solidFill>
                  <a:srgbClr val="536575"/>
                </a:solidFill>
                <a:latin typeface="Malgun Gothic"/>
                <a:ea typeface="Malgun Gothic"/>
                <a:cs typeface="Malgun Gothic"/>
              </a:rPr>
              <a:t>대상별 Ping과 손실률</a:t>
            </a:r>
            <a:endParaRPr lang="ko-KR" sz="2100"/>
          </a:p>
          <a:p>
            <a:pPr>
              <a:lnSpc>
                <a:spcPct val="120000"/>
              </a:lnSpc>
            </a:pPr>
            <a:r>
              <a:rPr lang="ko-KR" sz="2100" b="0">
                <a:solidFill>
                  <a:srgbClr val="536575"/>
                </a:solidFill>
                <a:latin typeface="Malgun Gothic"/>
                <a:ea typeface="Malgun Gothic"/>
                <a:cs typeface="Malgun Gothic"/>
              </a:rPr>
              <a:t>속도, 품질 점수와 평가 범위</a:t>
            </a:r>
            <a:endParaRPr lang="ko-KR" sz="2100"/>
          </a:p>
          <a:p>
            <a:pPr>
              <a:lnSpc>
                <a:spcPct val="120000"/>
              </a:lnSpc>
            </a:pPr>
            <a:r>
              <a:rPr lang="ko-KR" sz="2100" b="0">
                <a:solidFill>
                  <a:srgbClr val="536575"/>
                </a:solidFill>
                <a:latin typeface="Malgun Gothic"/>
                <a:ea typeface="Malgun Gothic"/>
                <a:cs typeface="Malgun Gothic"/>
              </a:rPr>
              <a:t>완료 시각, 저장 상태와 기록 조회</a:t>
            </a:r>
            <a:endParaRPr lang="ko-KR" sz="2100"/>
          </a:p>
        </p:txBody>
      </p:sp>
      <p:sp>
        <p:nvSpPr>
          <p:cNvPr id="7" name="Text 7"/>
          <p:cNvSpPr txBox="1"/>
          <p:nvPr/>
        </p:nvSpPr>
        <p:spPr>
          <a:xfrm>
            <a:off x="6762750" y="2667000"/>
            <a:ext cx="4476750" cy="428625"/>
          </a:xfrm>
          <a:prstGeom prst="rect">
            <a:avLst/>
          </a:prstGeom>
          <a:noFill/>
          <a:ln>
            <a:noFill/>
          </a:ln>
        </p:spPr>
        <p:txBody>
          <a:bodyPr wrap="square" lIns="0" tIns="0" rIns="0" bIns="0" anchor="t"/>
          <a:lstStyle/>
          <a:p>
            <a:pPr>
              <a:lnSpc>
                <a:spcPct val="120000"/>
              </a:lnSpc>
            </a:pPr>
            <a:r>
              <a:rPr lang="ko-KR" sz="2475" b="1">
                <a:solidFill>
                  <a:srgbClr val="142B43"/>
                </a:solidFill>
                <a:latin typeface="Malgun Gothic"/>
                <a:ea typeface="Malgun Gothic"/>
                <a:cs typeface="Malgun Gothic"/>
              </a:rPr>
              <a:t>실시간 그래프</a:t>
            </a:r>
            <a:endParaRPr lang="ko-KR" sz="2475"/>
          </a:p>
        </p:txBody>
      </p:sp>
      <p:sp>
        <p:nvSpPr>
          <p:cNvPr id="8" name="Text 8"/>
          <p:cNvSpPr txBox="1"/>
          <p:nvPr/>
        </p:nvSpPr>
        <p:spPr>
          <a:xfrm>
            <a:off x="6762750" y="3352800"/>
            <a:ext cx="4524375" cy="1485900"/>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RSSI와 신호 세기</a:t>
            </a:r>
            <a:endParaRPr lang="ko-KR" sz="2100"/>
          </a:p>
          <a:p>
            <a:pPr>
              <a:lnSpc>
                <a:spcPct val="120000"/>
              </a:lnSpc>
            </a:pPr>
            <a:r>
              <a:rPr lang="ko-KR" sz="2100" b="0">
                <a:solidFill>
                  <a:srgbClr val="536575"/>
                </a:solidFill>
                <a:latin typeface="Malgun Gothic"/>
                <a:ea typeface="Malgun Gothic"/>
                <a:cs typeface="Malgun Gothic"/>
              </a:rPr>
              <a:t>게이트웨이와 외부 Ping</a:t>
            </a:r>
            <a:endParaRPr lang="ko-KR" sz="2100"/>
          </a:p>
          <a:p>
            <a:pPr>
              <a:lnSpc>
                <a:spcPct val="120000"/>
              </a:lnSpc>
            </a:pPr>
            <a:r>
              <a:rPr lang="ko-KR" sz="2100" b="0">
                <a:solidFill>
                  <a:srgbClr val="536575"/>
                </a:solidFill>
                <a:latin typeface="Malgun Gothic"/>
                <a:ea typeface="Malgun Gothic"/>
                <a:cs typeface="Malgun Gothic"/>
              </a:rPr>
              <a:t>패킷 손실과 전송 속도</a:t>
            </a:r>
            <a:endParaRPr lang="ko-KR" sz="2100"/>
          </a:p>
        </p:txBody>
      </p:sp>
      <p:sp>
        <p:nvSpPr>
          <p:cNvPr id="9" name="Text 9"/>
          <p:cNvSpPr txBox="1"/>
          <p:nvPr/>
        </p:nvSpPr>
        <p:spPr>
          <a:xfrm>
            <a:off x="6762750" y="5114925"/>
            <a:ext cx="4476750" cy="809625"/>
          </a:xfrm>
          <a:prstGeom prst="rect">
            <a:avLst/>
          </a:prstGeom>
          <a:noFill/>
          <a:ln>
            <a:noFill/>
          </a:ln>
        </p:spPr>
        <p:txBody>
          <a:bodyPr wrap="square" lIns="0" tIns="0" rIns="0" bIns="0" anchor="t"/>
          <a:lstStyle/>
          <a:p>
            <a:pPr>
              <a:lnSpc>
                <a:spcPct val="120000"/>
              </a:lnSpc>
            </a:pPr>
            <a:r>
              <a:rPr lang="ko-KR" sz="1950" b="1">
                <a:solidFill>
                  <a:srgbClr val="007D86"/>
                </a:solidFill>
                <a:latin typeface="Malgun Gothic"/>
                <a:ea typeface="Malgun Gothic"/>
                <a:cs typeface="Malgun Gothic"/>
              </a:rPr>
              <a:t>최근 100개 기록</a:t>
            </a:r>
            <a:endParaRPr lang="ko-KR" sz="1950"/>
          </a:p>
          <a:p>
            <a:pPr>
              <a:lnSpc>
                <a:spcPct val="120000"/>
              </a:lnSpc>
            </a:pPr>
            <a:r>
              <a:rPr lang="ko-KR" sz="1950" b="1">
                <a:solidFill>
                  <a:srgbClr val="007D86"/>
                </a:solidFill>
                <a:latin typeface="Malgun Gothic"/>
                <a:ea typeface="Malgun Gothic"/>
                <a:cs typeface="Malgun Gothic"/>
              </a:rPr>
              <a:t>미측정 구간은 선을 끊어 표시</a:t>
            </a:r>
            <a:endParaRPr lang="ko-KR" sz="19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품질 점수와 5단계 등급">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품질 점수와 5단계 등급</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07</a:t>
            </a:r>
            <a:endParaRPr lang="ko-KR" sz="1350"/>
          </a:p>
        </p:txBody>
      </p:sp>
      <p:graphicFrame>
        <p:nvGraphicFramePr>
          <p:cNvPr id="4" name="Table 4"/>
          <p:cNvGraphicFramePr/>
          <p:nvPr/>
        </p:nvGraphicFramePr>
        <p:xfrm>
          <a:off x="666750" y="1676400"/>
          <a:ext cx="6096000" cy="3143250"/>
        </p:xfrm>
        <a:graphic>
          <a:graphicData uri="http://schemas.openxmlformats.org/drawingml/2006/table">
            <a:tbl>
              <a:tblPr firstRow="1" bandRow="0"/>
              <a:tblGrid>
                <a:gridCol w="4762500"/>
                <a:gridCol w="1333500"/>
              </a:tblGrid>
              <a:tr h="628650">
                <a:tc>
                  <a:txBody>
                    <a:bodyPr/>
                    <a:lstStyle/>
                    <a:p>
                      <a:pPr>
                        <a:lnSpc>
                          <a:spcPct val="120000"/>
                        </a:lnSpc>
                      </a:pPr>
                      <a:r>
                        <a:rPr lang="ko-KR" sz="1875" b="1">
                          <a:solidFill>
                            <a:srgbClr val="FFFFFF"/>
                          </a:solidFill>
                          <a:latin typeface="Malgun Gothic"/>
                          <a:ea typeface="Malgun Gothic"/>
                          <a:cs typeface="Malgun Gothic"/>
                        </a:rPr>
                        <a:t>평가 지표</a:t>
                      </a:r>
                      <a:endParaRPr lang="ko-KR" sz="1875"/>
                    </a:p>
                  </a:txBody>
                  <a:tcPr marL="152400" marR="114300" marT="114300" marB="76200" anchor="ctr">
                    <a:lnL w="0">
                      <a:noFill/>
                    </a:lnL>
                    <a:lnR w="0">
                      <a:noFill/>
                    </a:lnR>
                    <a:lnT w="0">
                      <a:noFill/>
                    </a:lnT>
                    <a:lnB w="12700">
                      <a:solidFill>
                        <a:srgbClr val="D9E2E8"/>
                      </a:solidFill>
                    </a:lnB>
                    <a:solidFill>
                      <a:srgbClr val="142B43"/>
                    </a:solidFill>
                  </a:tcPr>
                </a:tc>
                <a:tc>
                  <a:txBody>
                    <a:bodyPr/>
                    <a:lstStyle/>
                    <a:p>
                      <a:pPr>
                        <a:lnSpc>
                          <a:spcPct val="120000"/>
                        </a:lnSpc>
                      </a:pPr>
                      <a:r>
                        <a:rPr lang="ko-KR" sz="1875" b="1">
                          <a:solidFill>
                            <a:srgbClr val="FFFFFF"/>
                          </a:solidFill>
                          <a:latin typeface="Malgun Gothic"/>
                          <a:ea typeface="Malgun Gothic"/>
                          <a:cs typeface="Malgun Gothic"/>
                        </a:rPr>
                        <a:t>가중치</a:t>
                      </a:r>
                      <a:endParaRPr lang="ko-KR" sz="1875"/>
                    </a:p>
                  </a:txBody>
                  <a:tcPr marL="152400" marR="114300" marT="114300" marB="76200" anchor="ctr">
                    <a:lnL w="0">
                      <a:noFill/>
                    </a:lnL>
                    <a:lnR w="0">
                      <a:noFill/>
                    </a:lnR>
                    <a:lnT w="0">
                      <a:noFill/>
                    </a:lnT>
                    <a:lnB w="12700">
                      <a:solidFill>
                        <a:srgbClr val="D9E2E8"/>
                      </a:solidFill>
                    </a:lnB>
                    <a:solidFill>
                      <a:srgbClr val="142B43"/>
                    </a:solidFill>
                  </a:tcPr>
                </a:tc>
              </a:tr>
              <a:tr h="628650">
                <a:tc>
                  <a:txBody>
                    <a:bodyPr/>
                    <a:lstStyle/>
                    <a:p>
                      <a:pPr>
                        <a:lnSpc>
                          <a:spcPct val="120000"/>
                        </a:lnSpc>
                      </a:pPr>
                      <a:r>
                        <a:rPr lang="ko-KR" sz="1875" b="0">
                          <a:solidFill>
                            <a:srgbClr val="142B43"/>
                          </a:solidFill>
                          <a:latin typeface="Malgun Gothic"/>
                          <a:ea typeface="Malgun Gothic"/>
                          <a:cs typeface="Malgun Gothic"/>
                        </a:rPr>
                        <a:t>RSSI</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30</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628650">
                <a:tc>
                  <a:txBody>
                    <a:bodyPr/>
                    <a:lstStyle/>
                    <a:p>
                      <a:pPr>
                        <a:lnSpc>
                          <a:spcPct val="120000"/>
                        </a:lnSpc>
                      </a:pPr>
                      <a:r>
                        <a:rPr lang="ko-KR" sz="1875" b="0">
                          <a:solidFill>
                            <a:srgbClr val="142B43"/>
                          </a:solidFill>
                          <a:latin typeface="Malgun Gothic"/>
                          <a:ea typeface="Malgun Gothic"/>
                          <a:cs typeface="Malgun Gothic"/>
                        </a:rPr>
                        <a:t>Ping: 게이트웨이 / 외부</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15 / 10</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r h="628650">
                <a:tc>
                  <a:txBody>
                    <a:bodyPr/>
                    <a:lstStyle/>
                    <a:p>
                      <a:pPr>
                        <a:lnSpc>
                          <a:spcPct val="120000"/>
                        </a:lnSpc>
                      </a:pPr>
                      <a:r>
                        <a:rPr lang="ko-KR" sz="1875" b="0">
                          <a:solidFill>
                            <a:srgbClr val="142B43"/>
                          </a:solidFill>
                          <a:latin typeface="Malgun Gothic"/>
                          <a:ea typeface="Malgun Gothic"/>
                          <a:cs typeface="Malgun Gothic"/>
                        </a:rPr>
                        <a:t>손실: 게이트웨이 / 외부</a:t>
                      </a:r>
                      <a:endParaRPr lang="ko-KR" sz="1875"/>
                    </a:p>
                  </a:txBody>
                  <a:tcPr marL="152400" marR="114300" marT="114300" marB="76200" anchor="ctr">
                    <a:lnL w="0">
                      <a:noFill/>
                    </a:lnL>
                    <a:lnR w="0">
                      <a:noFill/>
                    </a:lnR>
                    <a:lnT w="0">
                      <a:noFill/>
                    </a:lnT>
                    <a:lnB w="12700">
                      <a:solidFill>
                        <a:srgbClr val="D9E2E8"/>
                      </a:solidFill>
                    </a:lnB>
                    <a:solidFill>
                      <a:srgbClr val="F0F5F8"/>
                    </a:solidFill>
                  </a:tcPr>
                </a:tc>
                <a:tc>
                  <a:txBody>
                    <a:bodyPr/>
                    <a:lstStyle/>
                    <a:p>
                      <a:pPr>
                        <a:lnSpc>
                          <a:spcPct val="120000"/>
                        </a:lnSpc>
                      </a:pPr>
                      <a:r>
                        <a:rPr lang="ko-KR" sz="1875" b="0">
                          <a:solidFill>
                            <a:srgbClr val="142B43"/>
                          </a:solidFill>
                          <a:latin typeface="Malgun Gothic"/>
                          <a:ea typeface="Malgun Gothic"/>
                          <a:cs typeface="Malgun Gothic"/>
                        </a:rPr>
                        <a:t>20 / 15</a:t>
                      </a:r>
                      <a:endParaRPr lang="ko-KR" sz="1875"/>
                    </a:p>
                  </a:txBody>
                  <a:tcPr marL="152400" marR="114300" marT="114300" marB="76200" anchor="ctr">
                    <a:lnL w="0">
                      <a:noFill/>
                    </a:lnL>
                    <a:lnR w="0">
                      <a:noFill/>
                    </a:lnR>
                    <a:lnT w="0">
                      <a:noFill/>
                    </a:lnT>
                    <a:lnB w="12700">
                      <a:solidFill>
                        <a:srgbClr val="D9E2E8"/>
                      </a:solidFill>
                    </a:lnB>
                    <a:solidFill>
                      <a:srgbClr val="F0F5F8"/>
                    </a:solidFill>
                  </a:tcPr>
                </a:tc>
              </a:tr>
              <a:tr h="628650">
                <a:tc>
                  <a:txBody>
                    <a:bodyPr/>
                    <a:lstStyle/>
                    <a:p>
                      <a:pPr>
                        <a:lnSpc>
                          <a:spcPct val="120000"/>
                        </a:lnSpc>
                      </a:pPr>
                      <a:r>
                        <a:rPr lang="ko-KR" sz="1875" b="0">
                          <a:solidFill>
                            <a:srgbClr val="142B43"/>
                          </a:solidFill>
                          <a:latin typeface="Malgun Gothic"/>
                          <a:ea typeface="Malgun Gothic"/>
                          <a:cs typeface="Malgun Gothic"/>
                        </a:rPr>
                        <a:t>속도: 다운로드 / 업로드</a:t>
                      </a:r>
                      <a:endParaRPr lang="ko-KR" sz="1875"/>
                    </a:p>
                  </a:txBody>
                  <a:tcPr marL="152400" marR="114300" marT="114300" marB="76200" anchor="ctr">
                    <a:lnL w="0">
                      <a:noFill/>
                    </a:lnL>
                    <a:lnR w="0">
                      <a:noFill/>
                    </a:lnR>
                    <a:lnT w="0">
                      <a:noFill/>
                    </a:lnT>
                    <a:lnB w="12700">
                      <a:solidFill>
                        <a:srgbClr val="D9E2E8"/>
                      </a:solidFill>
                    </a:lnB>
                    <a:solidFill>
                      <a:srgbClr val="FFFFFF"/>
                    </a:solidFill>
                  </a:tcPr>
                </a:tc>
                <a:tc>
                  <a:txBody>
                    <a:bodyPr/>
                    <a:lstStyle/>
                    <a:p>
                      <a:pPr>
                        <a:lnSpc>
                          <a:spcPct val="120000"/>
                        </a:lnSpc>
                      </a:pPr>
                      <a:r>
                        <a:rPr lang="ko-KR" sz="1875" b="0">
                          <a:solidFill>
                            <a:srgbClr val="142B43"/>
                          </a:solidFill>
                          <a:latin typeface="Malgun Gothic"/>
                          <a:ea typeface="Malgun Gothic"/>
                          <a:cs typeface="Malgun Gothic"/>
                        </a:rPr>
                        <a:t>7 / 3</a:t>
                      </a:r>
                      <a:endParaRPr lang="ko-KR" sz="1875"/>
                    </a:p>
                  </a:txBody>
                  <a:tcPr marL="152400" marR="114300" marT="114300" marB="76200" anchor="ctr">
                    <a:lnL w="0">
                      <a:noFill/>
                    </a:lnL>
                    <a:lnR w="0">
                      <a:noFill/>
                    </a:lnR>
                    <a:lnT w="0">
                      <a:noFill/>
                    </a:lnT>
                    <a:lnB w="12700">
                      <a:solidFill>
                        <a:srgbClr val="D9E2E8"/>
                      </a:solidFill>
                    </a:lnB>
                    <a:solidFill>
                      <a:srgbClr val="FFFFFF"/>
                    </a:solidFill>
                  </a:tcPr>
                </a:tc>
              </a:tr>
            </a:tbl>
          </a:graphicData>
        </a:graphic>
      </p:graphicFrame>
      <p:sp>
        <p:nvSpPr>
          <p:cNvPr id="5" name="Text 5"/>
          <p:cNvSpPr txBox="1"/>
          <p:nvPr/>
        </p:nvSpPr>
        <p:spPr>
          <a:xfrm>
            <a:off x="7048500" y="1676400"/>
            <a:ext cx="4143375" cy="419100"/>
          </a:xfrm>
          <a:prstGeom prst="rect">
            <a:avLst/>
          </a:prstGeom>
          <a:noFill/>
          <a:ln>
            <a:noFill/>
          </a:ln>
        </p:spPr>
        <p:txBody>
          <a:bodyPr wrap="square" lIns="0" tIns="0" rIns="0" bIns="0" anchor="t"/>
          <a:lstStyle/>
          <a:p>
            <a:pPr>
              <a:lnSpc>
                <a:spcPct val="120000"/>
              </a:lnSpc>
            </a:pPr>
            <a:r>
              <a:rPr lang="ko-KR" sz="2325" b="1">
                <a:solidFill>
                  <a:srgbClr val="142B43"/>
                </a:solidFill>
                <a:latin typeface="Malgun Gothic"/>
                <a:ea typeface="Malgun Gothic"/>
                <a:cs typeface="Malgun Gothic"/>
              </a:rPr>
              <a:t>종합 점수</a:t>
            </a:r>
            <a:endParaRPr lang="ko-KR" sz="2325"/>
          </a:p>
        </p:txBody>
      </p:sp>
      <p:sp>
        <p:nvSpPr>
          <p:cNvPr id="6" name="Text 6"/>
          <p:cNvSpPr txBox="1"/>
          <p:nvPr/>
        </p:nvSpPr>
        <p:spPr>
          <a:xfrm>
            <a:off x="7048500" y="2238375"/>
            <a:ext cx="4286250" cy="904875"/>
          </a:xfrm>
          <a:prstGeom prst="rect">
            <a:avLst/>
          </a:prstGeom>
          <a:noFill/>
          <a:ln>
            <a:noFill/>
          </a:ln>
        </p:spPr>
        <p:txBody>
          <a:bodyPr wrap="square" lIns="0" tIns="0" rIns="0" bIns="0" anchor="t"/>
          <a:lstStyle/>
          <a:p>
            <a:pPr>
              <a:lnSpc>
                <a:spcPct val="120000"/>
              </a:lnSpc>
            </a:pPr>
            <a:r>
              <a:rPr lang="ko-KR" sz="2250" b="1">
                <a:solidFill>
                  <a:srgbClr val="007D86"/>
                </a:solidFill>
                <a:latin typeface="Malgun Gothic"/>
                <a:ea typeface="Malgun Gothic"/>
                <a:cs typeface="Malgun Gothic"/>
              </a:rPr>
              <a:t>Σ(지표 점수 × 가중치)</a:t>
            </a:r>
            <a:endParaRPr lang="ko-KR" sz="2250"/>
          </a:p>
          <a:p>
            <a:pPr>
              <a:lnSpc>
                <a:spcPct val="120000"/>
              </a:lnSpc>
            </a:pPr>
            <a:r>
              <a:rPr lang="ko-KR" sz="2250" b="1">
                <a:solidFill>
                  <a:srgbClr val="007D86"/>
                </a:solidFill>
                <a:latin typeface="Malgun Gothic"/>
                <a:ea typeface="Malgun Gothic"/>
                <a:cs typeface="Malgun Gothic"/>
              </a:rPr>
              <a:t>÷ 사용된 가중치 합</a:t>
            </a:r>
            <a:endParaRPr lang="ko-KR" sz="2250"/>
          </a:p>
        </p:txBody>
      </p:sp>
      <p:sp>
        <p:nvSpPr>
          <p:cNvPr id="7" name="Text 7"/>
          <p:cNvSpPr txBox="1"/>
          <p:nvPr/>
        </p:nvSpPr>
        <p:spPr>
          <a:xfrm>
            <a:off x="7048500" y="3438525"/>
            <a:ext cx="4286250" cy="2000250"/>
          </a:xfrm>
          <a:prstGeom prst="rect">
            <a:avLst/>
          </a:prstGeom>
          <a:noFill/>
          <a:ln>
            <a:noFill/>
          </a:ln>
        </p:spPr>
        <p:txBody>
          <a:bodyPr wrap="square" lIns="0" tIns="0" rIns="0" bIns="0" anchor="t"/>
          <a:lstStyle/>
          <a:p>
            <a:pPr>
              <a:lnSpc>
                <a:spcPct val="120000"/>
              </a:lnSpc>
            </a:pPr>
            <a:r>
              <a:rPr lang="ko-KR" sz="1950" b="0">
                <a:solidFill>
                  <a:srgbClr val="536575"/>
                </a:solidFill>
                <a:latin typeface="Malgun Gothic"/>
                <a:ea typeface="Malgun Gothic"/>
                <a:cs typeface="Malgun Gothic"/>
              </a:rPr>
              <a:t>90 이상  매우 좋음</a:t>
            </a:r>
            <a:endParaRPr lang="ko-KR" sz="1950"/>
          </a:p>
          <a:p>
            <a:pPr>
              <a:lnSpc>
                <a:spcPct val="120000"/>
              </a:lnSpc>
            </a:pPr>
            <a:r>
              <a:rPr lang="ko-KR" sz="1950" b="0">
                <a:solidFill>
                  <a:srgbClr val="536575"/>
                </a:solidFill>
                <a:latin typeface="Malgun Gothic"/>
                <a:ea typeface="Malgun Gothic"/>
                <a:cs typeface="Malgun Gothic"/>
              </a:rPr>
              <a:t>75 이상  좋음</a:t>
            </a:r>
            <a:endParaRPr lang="ko-KR" sz="1950"/>
          </a:p>
          <a:p>
            <a:pPr>
              <a:lnSpc>
                <a:spcPct val="120000"/>
              </a:lnSpc>
            </a:pPr>
            <a:r>
              <a:rPr lang="ko-KR" sz="1950" b="0">
                <a:solidFill>
                  <a:srgbClr val="536575"/>
                </a:solidFill>
                <a:latin typeface="Malgun Gothic"/>
                <a:ea typeface="Malgun Gothic"/>
                <a:cs typeface="Malgun Gothic"/>
              </a:rPr>
              <a:t>60 이상  보통</a:t>
            </a:r>
            <a:endParaRPr lang="ko-KR" sz="1950"/>
          </a:p>
          <a:p>
            <a:pPr>
              <a:lnSpc>
                <a:spcPct val="120000"/>
              </a:lnSpc>
            </a:pPr>
            <a:r>
              <a:rPr lang="ko-KR" sz="1950" b="0">
                <a:solidFill>
                  <a:srgbClr val="536575"/>
                </a:solidFill>
                <a:latin typeface="Malgun Gothic"/>
                <a:ea typeface="Malgun Gothic"/>
                <a:cs typeface="Malgun Gothic"/>
              </a:rPr>
              <a:t>40 이상  나쁨</a:t>
            </a:r>
            <a:endParaRPr lang="ko-KR" sz="1950"/>
          </a:p>
          <a:p>
            <a:pPr>
              <a:lnSpc>
                <a:spcPct val="120000"/>
              </a:lnSpc>
            </a:pPr>
            <a:r>
              <a:rPr lang="ko-KR" sz="1950" b="0">
                <a:solidFill>
                  <a:srgbClr val="536575"/>
                </a:solidFill>
                <a:latin typeface="Malgun Gothic"/>
                <a:ea typeface="Malgun Gothic"/>
                <a:cs typeface="Malgun Gothic"/>
              </a:rPr>
              <a:t>40 미만  매우 나쁨</a:t>
            </a:r>
            <a:endParaRPr lang="ko-KR" sz="1950"/>
          </a:p>
        </p:txBody>
      </p:sp>
      <p:sp>
        <p:nvSpPr>
          <p:cNvPr id="8" name="Text 8"/>
          <p:cNvSpPr txBox="1"/>
          <p:nvPr/>
        </p:nvSpPr>
        <p:spPr>
          <a:xfrm>
            <a:off x="666750" y="5257800"/>
            <a:ext cx="6191250" cy="714375"/>
          </a:xfrm>
          <a:prstGeom prst="rect">
            <a:avLst/>
          </a:prstGeom>
          <a:noFill/>
          <a:ln>
            <a:noFill/>
          </a:ln>
        </p:spPr>
        <p:txBody>
          <a:bodyPr wrap="square" lIns="0" tIns="0" rIns="0" bIns="0" anchor="t"/>
          <a:lstStyle/>
          <a:p>
            <a:pPr>
              <a:lnSpc>
                <a:spcPct val="120000"/>
              </a:lnSpc>
            </a:pPr>
            <a:r>
              <a:rPr lang="ko-KR" sz="1725" b="0">
                <a:solidFill>
                  <a:srgbClr val="536575"/>
                </a:solidFill>
                <a:latin typeface="Malgun Gothic"/>
                <a:ea typeface="Malgun Gothic"/>
                <a:cs typeface="Malgun Gothic"/>
              </a:rPr>
              <a:t>미측정 지표는 점수에서 제외</a:t>
            </a:r>
            <a:endParaRPr lang="ko-KR" sz="1725"/>
          </a:p>
          <a:p>
            <a:pPr>
              <a:lnSpc>
                <a:spcPct val="120000"/>
              </a:lnSpc>
            </a:pPr>
            <a:r>
              <a:rPr lang="ko-KR" sz="1725" b="0">
                <a:solidFill>
                  <a:srgbClr val="536575"/>
                </a:solidFill>
                <a:latin typeface="Malgun Gothic"/>
                <a:ea typeface="Malgun Gothic"/>
                <a:cs typeface="Malgun Gothic"/>
              </a:rPr>
              <a:t>속도 목표: 다운로드 100 Mbps, 업로드 20 Mbps</a:t>
            </a:r>
            <a:endParaRPr lang="ko-KR" sz="1725"/>
          </a:p>
        </p:txBody>
      </p:sp>
      <p:sp>
        <p:nvSpPr>
          <p:cNvPr id="9" name="Text 9"/>
          <p:cNvSpPr txBox="1"/>
          <p:nvPr/>
        </p:nvSpPr>
        <p:spPr>
          <a:xfrm>
            <a:off x="666750" y="6181725"/>
            <a:ext cx="10477500" cy="276225"/>
          </a:xfrm>
          <a:prstGeom prst="rect">
            <a:avLst/>
          </a:prstGeom>
          <a:noFill/>
          <a:ln>
            <a:noFill/>
          </a:ln>
        </p:spPr>
        <p:txBody>
          <a:bodyPr wrap="square" lIns="0" tIns="0" rIns="0" bIns="0" anchor="t"/>
          <a:lstStyle/>
          <a:p>
            <a:pPr>
              <a:lnSpc>
                <a:spcPct val="120000"/>
              </a:lnSpc>
            </a:pPr>
            <a:r>
              <a:rPr lang="ko-KR" sz="1575" b="0">
                <a:solidFill>
                  <a:srgbClr val="007D86"/>
                </a:solidFill>
                <a:latin typeface="Malgun Gothic"/>
                <a:ea typeface="Malgun Gothic"/>
                <a:cs typeface="Malgun Gothic"/>
              </a:rPr>
              <a:t>평가 기준 week08-v1은 프로젝트 초기 기준이며 실측으로 보정 예정</a:t>
            </a:r>
            <a:endParaRPr lang="ko-KR" sz="15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실제 네트워크 측정 결과">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실제 네트워크 측정 결과</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08</a:t>
            </a:r>
            <a:endParaRPr lang="ko-KR" sz="1350"/>
          </a:p>
        </p:txBody>
      </p:sp>
      <p:sp>
        <p:nvSpPr>
          <p:cNvPr id="4" name="Text 4"/>
          <p:cNvSpPr txBox="1"/>
          <p:nvPr/>
        </p:nvSpPr>
        <p:spPr>
          <a:xfrm>
            <a:off x="666750" y="1952625"/>
            <a:ext cx="4905375" cy="1066800"/>
          </a:xfrm>
          <a:prstGeom prst="rect">
            <a:avLst/>
          </a:prstGeom>
          <a:noFill/>
          <a:ln>
            <a:noFill/>
          </a:ln>
        </p:spPr>
        <p:txBody>
          <a:bodyPr wrap="square" lIns="0" tIns="0" rIns="0" bIns="0" anchor="t"/>
          <a:lstStyle/>
          <a:p>
            <a:pPr>
              <a:lnSpc>
                <a:spcPct val="120000"/>
              </a:lnSpc>
            </a:pPr>
            <a:r>
              <a:rPr lang="ko-KR" sz="6600" b="1">
                <a:solidFill>
                  <a:srgbClr val="007D86"/>
                </a:solidFill>
                <a:latin typeface="Malgun Gothic"/>
                <a:ea typeface="Malgun Gothic"/>
                <a:cs typeface="Malgun Gothic"/>
              </a:rPr>
              <a:t>31.56</a:t>
            </a:r>
            <a:endParaRPr lang="ko-KR" sz="6600"/>
          </a:p>
        </p:txBody>
      </p:sp>
      <p:sp>
        <p:nvSpPr>
          <p:cNvPr id="5" name="Text 5"/>
          <p:cNvSpPr txBox="1"/>
          <p:nvPr/>
        </p:nvSpPr>
        <p:spPr>
          <a:xfrm>
            <a:off x="704850" y="3171825"/>
            <a:ext cx="4953000" cy="514350"/>
          </a:xfrm>
          <a:prstGeom prst="rect">
            <a:avLst/>
          </a:prstGeom>
          <a:noFill/>
          <a:ln>
            <a:noFill/>
          </a:ln>
        </p:spPr>
        <p:txBody>
          <a:bodyPr wrap="square" lIns="0" tIns="0" rIns="0" bIns="0" anchor="t"/>
          <a:lstStyle/>
          <a:p>
            <a:pPr>
              <a:lnSpc>
                <a:spcPct val="120000"/>
              </a:lnSpc>
            </a:pPr>
            <a:r>
              <a:rPr lang="ko-KR" sz="2175" b="0">
                <a:solidFill>
                  <a:srgbClr val="142B43"/>
                </a:solidFill>
                <a:latin typeface="Malgun Gothic"/>
                <a:ea typeface="Malgun Gothic"/>
                <a:cs typeface="Malgun Gothic"/>
              </a:rPr>
              <a:t>다운로드 처리량 (Mbps)</a:t>
            </a:r>
            <a:endParaRPr lang="ko-KR" sz="2175"/>
          </a:p>
        </p:txBody>
      </p:sp>
      <p:sp>
        <p:nvSpPr>
          <p:cNvPr id="6" name="Text 6"/>
          <p:cNvSpPr txBox="1"/>
          <p:nvPr/>
        </p:nvSpPr>
        <p:spPr>
          <a:xfrm>
            <a:off x="6858000" y="1952625"/>
            <a:ext cx="4714875" cy="1066800"/>
          </a:xfrm>
          <a:prstGeom prst="rect">
            <a:avLst/>
          </a:prstGeom>
          <a:noFill/>
          <a:ln>
            <a:noFill/>
          </a:ln>
        </p:spPr>
        <p:txBody>
          <a:bodyPr wrap="square" lIns="0" tIns="0" rIns="0" bIns="0" anchor="t"/>
          <a:lstStyle/>
          <a:p>
            <a:pPr>
              <a:lnSpc>
                <a:spcPct val="120000"/>
              </a:lnSpc>
            </a:pPr>
            <a:r>
              <a:rPr lang="ko-KR" sz="6600" b="1">
                <a:solidFill>
                  <a:srgbClr val="007D86"/>
                </a:solidFill>
                <a:latin typeface="Malgun Gothic"/>
                <a:ea typeface="Malgun Gothic"/>
                <a:cs typeface="Malgun Gothic"/>
              </a:rPr>
              <a:t>16.56</a:t>
            </a:r>
            <a:endParaRPr lang="ko-KR" sz="6600"/>
          </a:p>
        </p:txBody>
      </p:sp>
      <p:sp>
        <p:nvSpPr>
          <p:cNvPr id="7" name="Text 7"/>
          <p:cNvSpPr txBox="1"/>
          <p:nvPr/>
        </p:nvSpPr>
        <p:spPr>
          <a:xfrm>
            <a:off x="6896100" y="3171825"/>
            <a:ext cx="4667250" cy="514350"/>
          </a:xfrm>
          <a:prstGeom prst="rect">
            <a:avLst/>
          </a:prstGeom>
          <a:noFill/>
          <a:ln>
            <a:noFill/>
          </a:ln>
        </p:spPr>
        <p:txBody>
          <a:bodyPr wrap="square" lIns="0" tIns="0" rIns="0" bIns="0" anchor="t"/>
          <a:lstStyle/>
          <a:p>
            <a:pPr>
              <a:lnSpc>
                <a:spcPct val="120000"/>
              </a:lnSpc>
            </a:pPr>
            <a:r>
              <a:rPr lang="ko-KR" sz="2175" b="0">
                <a:solidFill>
                  <a:srgbClr val="142B43"/>
                </a:solidFill>
                <a:latin typeface="Malgun Gothic"/>
                <a:ea typeface="Malgun Gothic"/>
                <a:cs typeface="Malgun Gothic"/>
              </a:rPr>
              <a:t>업로드 처리량 (Mbps)</a:t>
            </a:r>
            <a:endParaRPr lang="ko-KR" sz="2175"/>
          </a:p>
        </p:txBody>
      </p:sp>
      <p:sp>
        <p:nvSpPr>
          <p:cNvPr id="8" name="Text 8"/>
          <p:cNvSpPr txBox="1"/>
          <p:nvPr/>
        </p:nvSpPr>
        <p:spPr>
          <a:xfrm>
            <a:off x="666750" y="4343400"/>
            <a:ext cx="5524500" cy="723900"/>
          </a:xfrm>
          <a:prstGeom prst="rect">
            <a:avLst/>
          </a:prstGeom>
          <a:noFill/>
          <a:ln>
            <a:noFill/>
          </a:ln>
        </p:spPr>
        <p:txBody>
          <a:bodyPr wrap="square" lIns="0" tIns="0" rIns="0" bIns="0" anchor="t"/>
          <a:lstStyle/>
          <a:p>
            <a:pPr>
              <a:lnSpc>
                <a:spcPct val="120000"/>
              </a:lnSpc>
            </a:pPr>
            <a:r>
              <a:rPr lang="ko-KR" sz="3825" b="1">
                <a:solidFill>
                  <a:srgbClr val="142B43"/>
                </a:solidFill>
                <a:latin typeface="Malgun Gothic"/>
                <a:ea typeface="Malgun Gothic"/>
                <a:cs typeface="Malgun Gothic"/>
              </a:rPr>
              <a:t>94.69 / 100</a:t>
            </a:r>
            <a:endParaRPr lang="ko-KR" sz="3825"/>
          </a:p>
        </p:txBody>
      </p:sp>
      <p:sp>
        <p:nvSpPr>
          <p:cNvPr id="9" name="Text 9"/>
          <p:cNvSpPr txBox="1"/>
          <p:nvPr/>
        </p:nvSpPr>
        <p:spPr>
          <a:xfrm>
            <a:off x="6858000" y="4343400"/>
            <a:ext cx="4619625" cy="981075"/>
          </a:xfrm>
          <a:prstGeom prst="rect">
            <a:avLst/>
          </a:prstGeom>
          <a:noFill/>
          <a:ln>
            <a:noFill/>
          </a:ln>
        </p:spPr>
        <p:txBody>
          <a:bodyPr wrap="square" lIns="0" tIns="0" rIns="0" bIns="0" anchor="t"/>
          <a:lstStyle/>
          <a:p>
            <a:pPr>
              <a:lnSpc>
                <a:spcPct val="120000"/>
              </a:lnSpc>
            </a:pPr>
            <a:r>
              <a:rPr lang="ko-KR" sz="2175" b="0">
                <a:solidFill>
                  <a:srgbClr val="142B43"/>
                </a:solidFill>
                <a:latin typeface="Malgun Gothic"/>
                <a:ea typeface="Malgun Gothic"/>
                <a:cs typeface="Malgun Gothic"/>
              </a:rPr>
              <a:t>매우 좋음</a:t>
            </a:r>
            <a:endParaRPr lang="ko-KR" sz="2175"/>
          </a:p>
          <a:p>
            <a:pPr>
              <a:lnSpc>
                <a:spcPct val="120000"/>
              </a:lnSpc>
            </a:pPr>
            <a:r>
              <a:rPr lang="ko-KR" sz="2175" b="0">
                <a:solidFill>
                  <a:srgbClr val="142B43"/>
                </a:solidFill>
                <a:latin typeface="Malgun Gothic"/>
                <a:ea typeface="Malgun Gothic"/>
                <a:cs typeface="Malgun Gothic"/>
              </a:rPr>
              <a:t>평가 범위 100%, DB 저장 확인</a:t>
            </a:r>
            <a:endParaRPr lang="ko-KR" sz="2175"/>
          </a:p>
        </p:txBody>
      </p:sp>
      <p:sp>
        <p:nvSpPr>
          <p:cNvPr id="10" name="Text 10"/>
          <p:cNvSpPr txBox="1"/>
          <p:nvPr/>
        </p:nvSpPr>
        <p:spPr>
          <a:xfrm>
            <a:off x="666750" y="5924550"/>
            <a:ext cx="10858500" cy="400050"/>
          </a:xfrm>
          <a:prstGeom prst="rect">
            <a:avLst/>
          </a:prstGeom>
          <a:noFill/>
          <a:ln>
            <a:noFill/>
          </a:ln>
        </p:spPr>
        <p:txBody>
          <a:bodyPr wrap="square" lIns="0" tIns="0" rIns="0" bIns="0" anchor="t"/>
          <a:lstStyle/>
          <a:p>
            <a:pPr>
              <a:lnSpc>
                <a:spcPct val="120000"/>
              </a:lnSpc>
            </a:pPr>
            <a:r>
              <a:rPr lang="ko-KR" sz="1725" b="0">
                <a:solidFill>
                  <a:srgbClr val="536575"/>
                </a:solidFill>
                <a:latin typeface="Malgun Gothic"/>
                <a:ea typeface="Malgun Gothic"/>
                <a:cs typeface="Malgun Gothic"/>
              </a:rPr>
              <a:t>2026.10.08 실환경 확인  /  단일 측정 사례이며 장기 평균과 구분</a:t>
            </a:r>
            <a:endParaRPr lang="ko-KR" sz="172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오류 처리와 검증">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오류 처리와 검증</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09</a:t>
            </a:r>
            <a:endParaRPr lang="ko-KR" sz="1350"/>
          </a:p>
        </p:txBody>
      </p:sp>
      <p:sp>
        <p:nvSpPr>
          <p:cNvPr id="4" name="Text 4"/>
          <p:cNvSpPr txBox="1"/>
          <p:nvPr/>
        </p:nvSpPr>
        <p:spPr>
          <a:xfrm>
            <a:off x="666750" y="1762125"/>
            <a:ext cx="4191000" cy="1381125"/>
          </a:xfrm>
          <a:prstGeom prst="rect">
            <a:avLst/>
          </a:prstGeom>
          <a:noFill/>
          <a:ln>
            <a:noFill/>
          </a:ln>
        </p:spPr>
        <p:txBody>
          <a:bodyPr wrap="square" lIns="0" tIns="0" rIns="0" bIns="0" anchor="t"/>
          <a:lstStyle/>
          <a:p>
            <a:pPr>
              <a:lnSpc>
                <a:spcPct val="120000"/>
              </a:lnSpc>
            </a:pPr>
            <a:r>
              <a:rPr lang="ko-KR" sz="8700" b="1">
                <a:solidFill>
                  <a:srgbClr val="007D86"/>
                </a:solidFill>
                <a:latin typeface="Malgun Gothic"/>
                <a:ea typeface="Malgun Gothic"/>
                <a:cs typeface="Malgun Gothic"/>
              </a:rPr>
              <a:t>66</a:t>
            </a:r>
            <a:endParaRPr lang="ko-KR" sz="8700"/>
          </a:p>
        </p:txBody>
      </p:sp>
      <p:sp>
        <p:nvSpPr>
          <p:cNvPr id="5" name="Text 5"/>
          <p:cNvSpPr txBox="1"/>
          <p:nvPr/>
        </p:nvSpPr>
        <p:spPr>
          <a:xfrm>
            <a:off x="723900" y="3390900"/>
            <a:ext cx="4524375" cy="571500"/>
          </a:xfrm>
          <a:prstGeom prst="rect">
            <a:avLst/>
          </a:prstGeom>
          <a:noFill/>
          <a:ln>
            <a:noFill/>
          </a:ln>
        </p:spPr>
        <p:txBody>
          <a:bodyPr wrap="square" lIns="0" tIns="0" rIns="0" bIns="0" anchor="t"/>
          <a:lstStyle/>
          <a:p>
            <a:pPr>
              <a:lnSpc>
                <a:spcPct val="120000"/>
              </a:lnSpc>
            </a:pPr>
            <a:r>
              <a:rPr lang="ko-KR" sz="2550" b="1">
                <a:solidFill>
                  <a:srgbClr val="142B43"/>
                </a:solidFill>
                <a:latin typeface="Malgun Gothic"/>
                <a:ea typeface="Malgun Gothic"/>
                <a:cs typeface="Malgun Gothic"/>
              </a:rPr>
              <a:t>자동 테스트 통과</a:t>
            </a:r>
            <a:endParaRPr lang="ko-KR" sz="2550"/>
          </a:p>
        </p:txBody>
      </p:sp>
      <p:sp>
        <p:nvSpPr>
          <p:cNvPr id="6" name="Text 6"/>
          <p:cNvSpPr txBox="1"/>
          <p:nvPr/>
        </p:nvSpPr>
        <p:spPr>
          <a:xfrm>
            <a:off x="6429375" y="1733550"/>
            <a:ext cx="4762500" cy="476250"/>
          </a:xfrm>
          <a:prstGeom prst="rect">
            <a:avLst/>
          </a:prstGeom>
          <a:noFill/>
          <a:ln>
            <a:noFill/>
          </a:ln>
        </p:spPr>
        <p:txBody>
          <a:bodyPr wrap="square" lIns="0" tIns="0" rIns="0" bIns="0" anchor="t"/>
          <a:lstStyle/>
          <a:p>
            <a:pPr>
              <a:lnSpc>
                <a:spcPct val="120000"/>
              </a:lnSpc>
            </a:pPr>
            <a:r>
              <a:rPr lang="ko-KR" sz="2400" b="1">
                <a:solidFill>
                  <a:srgbClr val="142B43"/>
                </a:solidFill>
                <a:latin typeface="Malgun Gothic"/>
                <a:ea typeface="Malgun Gothic"/>
                <a:cs typeface="Malgun Gothic"/>
              </a:rPr>
              <a:t>검증한 사례</a:t>
            </a:r>
            <a:endParaRPr lang="ko-KR" sz="2400"/>
          </a:p>
        </p:txBody>
      </p:sp>
      <p:sp>
        <p:nvSpPr>
          <p:cNvPr id="7" name="Text 7"/>
          <p:cNvSpPr txBox="1"/>
          <p:nvPr/>
        </p:nvSpPr>
        <p:spPr>
          <a:xfrm>
            <a:off x="6429375" y="2438400"/>
            <a:ext cx="5095875" cy="2552700"/>
          </a:xfrm>
          <a:prstGeom prst="rect">
            <a:avLst/>
          </a:prstGeom>
          <a:noFill/>
          <a:ln>
            <a:noFill/>
          </a:ln>
        </p:spPr>
        <p:txBody>
          <a:bodyPr wrap="square" lIns="0" tIns="0" rIns="0" bIns="0" anchor="t"/>
          <a:lstStyle/>
          <a:p>
            <a:pPr>
              <a:lnSpc>
                <a:spcPct val="120000"/>
              </a:lnSpc>
            </a:pPr>
            <a:r>
              <a:rPr lang="ko-KR" sz="2025" b="0">
                <a:solidFill>
                  <a:srgbClr val="536575"/>
                </a:solidFill>
                <a:latin typeface="Malgun Gothic"/>
                <a:ea typeface="Malgun Gothic"/>
                <a:cs typeface="Malgun Gothic"/>
              </a:rPr>
              <a:t>미측정과 유효한 0값 구분</a:t>
            </a:r>
            <a:endParaRPr lang="ko-KR" sz="2025"/>
          </a:p>
          <a:p>
            <a:pPr>
              <a:lnSpc>
                <a:spcPct val="120000"/>
              </a:lnSpc>
            </a:pPr>
            <a:r>
              <a:rPr lang="ko-KR" sz="2025" b="0">
                <a:solidFill>
                  <a:srgbClr val="536575"/>
                </a:solidFill>
                <a:latin typeface="Malgun Gothic"/>
                <a:ea typeface="Malgun Gothic"/>
                <a:cs typeface="Malgun Gothic"/>
              </a:rPr>
              <a:t>무응답 100% 손실과 송신 실패 구분</a:t>
            </a:r>
            <a:endParaRPr lang="ko-KR" sz="2025"/>
          </a:p>
          <a:p>
            <a:pPr>
              <a:lnSpc>
                <a:spcPct val="120000"/>
              </a:lnSpc>
            </a:pPr>
            <a:r>
              <a:rPr lang="ko-KR" sz="2025" b="0">
                <a:solidFill>
                  <a:srgbClr val="536575"/>
                </a:solidFill>
                <a:latin typeface="Malgun Gothic"/>
                <a:ea typeface="Malgun Gothic"/>
                <a:cs typeface="Malgun Gothic"/>
              </a:rPr>
              <a:t>부분 속도 실패와 잘못된 값 제외</a:t>
            </a:r>
            <a:endParaRPr lang="ko-KR" sz="2025"/>
          </a:p>
          <a:p>
            <a:pPr>
              <a:lnSpc>
                <a:spcPct val="120000"/>
              </a:lnSpc>
            </a:pPr>
            <a:r>
              <a:rPr lang="ko-KR" sz="2025" b="0">
                <a:solidFill>
                  <a:srgbClr val="536575"/>
                </a:solidFill>
                <a:latin typeface="Malgun Gothic"/>
                <a:ea typeface="Malgun Gothic"/>
                <a:cs typeface="Malgun Gothic"/>
              </a:rPr>
              <a:t>연결 변경, 취소, 점수 초기화</a:t>
            </a:r>
            <a:endParaRPr lang="ko-KR" sz="2025"/>
          </a:p>
          <a:p>
            <a:pPr>
              <a:lnSpc>
                <a:spcPct val="120000"/>
              </a:lnSpc>
            </a:pPr>
            <a:r>
              <a:rPr lang="ko-KR" sz="2025" b="0">
                <a:solidFill>
                  <a:srgbClr val="536575"/>
                </a:solidFill>
                <a:latin typeface="Malgun Gothic"/>
                <a:ea typeface="Malgun Gothic"/>
                <a:cs typeface="Malgun Gothic"/>
              </a:rPr>
              <a:t>기록 저장과 재조회, GUI 결과 전달</a:t>
            </a:r>
            <a:endParaRPr lang="ko-KR" sz="2025"/>
          </a:p>
        </p:txBody>
      </p:sp>
      <p:sp>
        <p:nvSpPr>
          <p:cNvPr id="8" name="Text 8"/>
          <p:cNvSpPr txBox="1"/>
          <p:nvPr/>
        </p:nvSpPr>
        <p:spPr>
          <a:xfrm>
            <a:off x="666750" y="5686425"/>
            <a:ext cx="10858500" cy="476250"/>
          </a:xfrm>
          <a:prstGeom prst="rect">
            <a:avLst/>
          </a:prstGeom>
          <a:noFill/>
          <a:ln>
            <a:noFill/>
          </a:ln>
        </p:spPr>
        <p:txBody>
          <a:bodyPr wrap="square" lIns="0" tIns="0" rIns="0" bIns="0" anchor="t"/>
          <a:lstStyle/>
          <a:p>
            <a:pPr>
              <a:lnSpc>
                <a:spcPct val="120000"/>
              </a:lnSpc>
            </a:pPr>
            <a:r>
              <a:rPr lang="ko-KR" sz="1875" b="1">
                <a:solidFill>
                  <a:srgbClr val="007D86"/>
                </a:solidFill>
                <a:latin typeface="Malgun Gothic"/>
                <a:ea typeface="Malgun Gothic"/>
                <a:cs typeface="Malgun Gothic"/>
              </a:rPr>
              <a:t>실환경 확인: 자동 갱신, 속도 측정, 화면 배치, 끊김과 복구</a:t>
            </a:r>
            <a:endParaRPr lang="ko-KR" sz="18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향후 계획과 현재 성과">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666750" y="457200"/>
            <a:ext cx="10858500" cy="685800"/>
          </a:xfrm>
          <a:prstGeom prst="rect">
            <a:avLst/>
          </a:prstGeom>
          <a:noFill/>
          <a:ln>
            <a:noFill/>
          </a:ln>
        </p:spPr>
        <p:txBody>
          <a:bodyPr wrap="square" lIns="0" tIns="0" rIns="0" bIns="0" anchor="t"/>
          <a:lstStyle/>
          <a:p>
            <a:pPr>
              <a:lnSpc>
                <a:spcPct val="120000"/>
              </a:lnSpc>
            </a:pPr>
            <a:r>
              <a:rPr lang="ko-KR" sz="3300" b="1">
                <a:solidFill>
                  <a:srgbClr val="142B43"/>
                </a:solidFill>
                <a:latin typeface="Malgun Gothic"/>
                <a:ea typeface="Malgun Gothic"/>
                <a:cs typeface="Malgun Gothic"/>
              </a:rPr>
              <a:t>향후 계획과 현재 성과</a:t>
            </a:r>
            <a:endParaRPr lang="ko-KR" sz="3300"/>
          </a:p>
        </p:txBody>
      </p:sp>
      <p:sp>
        <p:nvSpPr>
          <p:cNvPr id="3" name="Text 3"/>
          <p:cNvSpPr txBox="1"/>
          <p:nvPr/>
        </p:nvSpPr>
        <p:spPr>
          <a:xfrm>
            <a:off x="11144250" y="6286500"/>
            <a:ext cx="428625" cy="285750"/>
          </a:xfrm>
          <a:prstGeom prst="rect">
            <a:avLst/>
          </a:prstGeom>
          <a:noFill/>
          <a:ln>
            <a:noFill/>
          </a:ln>
        </p:spPr>
        <p:txBody>
          <a:bodyPr wrap="square" lIns="0" tIns="0" rIns="0" bIns="0" anchor="t"/>
          <a:lstStyle/>
          <a:p>
            <a:pPr>
              <a:lnSpc>
                <a:spcPct val="120000"/>
              </a:lnSpc>
            </a:pPr>
            <a:r>
              <a:rPr lang="ko-KR" sz="1350" b="0">
                <a:solidFill>
                  <a:srgbClr val="7C8A95"/>
                </a:solidFill>
                <a:latin typeface="Malgun Gothic"/>
                <a:ea typeface="Malgun Gothic"/>
                <a:cs typeface="Malgun Gothic"/>
              </a:rPr>
              <a:t>10</a:t>
            </a:r>
            <a:endParaRPr lang="ko-KR" sz="1350"/>
          </a:p>
        </p:txBody>
      </p:sp>
      <p:sp>
        <p:nvSpPr>
          <p:cNvPr id="4" name="Text 4"/>
          <p:cNvSpPr txBox="1"/>
          <p:nvPr/>
        </p:nvSpPr>
        <p:spPr>
          <a:xfrm>
            <a:off x="666750" y="1562100"/>
            <a:ext cx="10858500" cy="866775"/>
          </a:xfrm>
          <a:prstGeom prst="rect">
            <a:avLst/>
          </a:prstGeom>
          <a:noFill/>
          <a:ln>
            <a:noFill/>
          </a:ln>
        </p:spPr>
        <p:txBody>
          <a:bodyPr wrap="square" lIns="0" tIns="0" rIns="0" bIns="0" anchor="t"/>
          <a:lstStyle/>
          <a:p>
            <a:pPr>
              <a:lnSpc>
                <a:spcPct val="120000"/>
              </a:lnSpc>
            </a:pPr>
            <a:r>
              <a:rPr lang="ko-KR" sz="2550" b="1">
                <a:solidFill>
                  <a:srgbClr val="007D86"/>
                </a:solidFill>
                <a:latin typeface="Malgun Gothic"/>
                <a:ea typeface="Malgun Gothic"/>
                <a:cs typeface="Malgun Gothic"/>
              </a:rPr>
              <a:t>현재 성과: 측정부터 품질 평가까지 동작하는 Windows 프로그램</a:t>
            </a:r>
            <a:endParaRPr lang="ko-KR" sz="2550"/>
          </a:p>
        </p:txBody>
      </p:sp>
      <p:sp>
        <p:nvSpPr>
          <p:cNvPr id="5" name="Text 5"/>
          <p:cNvSpPr txBox="1"/>
          <p:nvPr/>
        </p:nvSpPr>
        <p:spPr>
          <a:xfrm>
            <a:off x="666750" y="3028950"/>
            <a:ext cx="4762500" cy="428625"/>
          </a:xfrm>
          <a:prstGeom prst="rect">
            <a:avLst/>
          </a:prstGeom>
          <a:noFill/>
          <a:ln>
            <a:noFill/>
          </a:ln>
        </p:spPr>
        <p:txBody>
          <a:bodyPr wrap="square" lIns="0" tIns="0" rIns="0" bIns="0" anchor="t"/>
          <a:lstStyle/>
          <a:p>
            <a:pPr>
              <a:lnSpc>
                <a:spcPct val="120000"/>
              </a:lnSpc>
            </a:pPr>
            <a:r>
              <a:rPr lang="ko-KR" sz="2475" b="1">
                <a:solidFill>
                  <a:srgbClr val="142B43"/>
                </a:solidFill>
                <a:latin typeface="Malgun Gothic"/>
                <a:ea typeface="Malgun Gothic"/>
                <a:cs typeface="Malgun Gothic"/>
              </a:rPr>
              <a:t>9~12주차</a:t>
            </a:r>
            <a:endParaRPr lang="ko-KR" sz="2475"/>
          </a:p>
        </p:txBody>
      </p:sp>
      <p:sp>
        <p:nvSpPr>
          <p:cNvPr id="6" name="Text 6"/>
          <p:cNvSpPr txBox="1"/>
          <p:nvPr/>
        </p:nvSpPr>
        <p:spPr>
          <a:xfrm>
            <a:off x="666750" y="3686175"/>
            <a:ext cx="5143500" cy="2009775"/>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9주차   위치 지정과 반복 측정</a:t>
            </a:r>
            <a:endParaRPr lang="ko-KR" sz="2100"/>
          </a:p>
          <a:p>
            <a:pPr>
              <a:lnSpc>
                <a:spcPct val="120000"/>
              </a:lnSpc>
            </a:pPr>
            <a:r>
              <a:rPr lang="ko-KR" sz="2100" b="0">
                <a:solidFill>
                  <a:srgbClr val="536575"/>
                </a:solidFill>
                <a:latin typeface="Malgun Gothic"/>
                <a:ea typeface="Malgun Gothic"/>
                <a:cs typeface="Malgun Gothic"/>
              </a:rPr>
              <a:t>10주차  공간별 Heatmap</a:t>
            </a:r>
            <a:endParaRPr lang="ko-KR" sz="2100"/>
          </a:p>
          <a:p>
            <a:pPr>
              <a:lnSpc>
                <a:spcPct val="120000"/>
              </a:lnSpc>
            </a:pPr>
            <a:r>
              <a:rPr lang="ko-KR" sz="2100" b="0">
                <a:solidFill>
                  <a:srgbClr val="536575"/>
                </a:solidFill>
                <a:latin typeface="Malgun Gothic"/>
                <a:ea typeface="Malgun Gothic"/>
                <a:cs typeface="Malgun Gothic"/>
              </a:rPr>
              <a:t>11주차  음영지역 탐지</a:t>
            </a:r>
            <a:endParaRPr lang="ko-KR" sz="2100"/>
          </a:p>
          <a:p>
            <a:pPr>
              <a:lnSpc>
                <a:spcPct val="120000"/>
              </a:lnSpc>
            </a:pPr>
            <a:r>
              <a:rPr lang="ko-KR" sz="2100" b="0">
                <a:solidFill>
                  <a:srgbClr val="536575"/>
                </a:solidFill>
                <a:latin typeface="Malgun Gothic"/>
                <a:ea typeface="Malgun Gothic"/>
                <a:cs typeface="Malgun Gothic"/>
              </a:rPr>
              <a:t>12주차  규칙 기반 진단과 개선 추천</a:t>
            </a:r>
            <a:endParaRPr lang="ko-KR" sz="2100"/>
          </a:p>
        </p:txBody>
      </p:sp>
      <p:sp>
        <p:nvSpPr>
          <p:cNvPr id="7" name="Text 7"/>
          <p:cNvSpPr txBox="1"/>
          <p:nvPr/>
        </p:nvSpPr>
        <p:spPr>
          <a:xfrm>
            <a:off x="6810375" y="3028950"/>
            <a:ext cx="4572000" cy="428625"/>
          </a:xfrm>
          <a:prstGeom prst="rect">
            <a:avLst/>
          </a:prstGeom>
          <a:noFill/>
          <a:ln>
            <a:noFill/>
          </a:ln>
        </p:spPr>
        <p:txBody>
          <a:bodyPr wrap="square" lIns="0" tIns="0" rIns="0" bIns="0" anchor="t"/>
          <a:lstStyle/>
          <a:p>
            <a:pPr>
              <a:lnSpc>
                <a:spcPct val="120000"/>
              </a:lnSpc>
            </a:pPr>
            <a:r>
              <a:rPr lang="ko-KR" sz="2475" b="1">
                <a:solidFill>
                  <a:srgbClr val="142B43"/>
                </a:solidFill>
                <a:latin typeface="Malgun Gothic"/>
                <a:ea typeface="Malgun Gothic"/>
                <a:cs typeface="Malgun Gothic"/>
              </a:rPr>
              <a:t>13~16주차</a:t>
            </a:r>
            <a:endParaRPr lang="ko-KR" sz="2475"/>
          </a:p>
        </p:txBody>
      </p:sp>
      <p:sp>
        <p:nvSpPr>
          <p:cNvPr id="8" name="Text 8"/>
          <p:cNvSpPr txBox="1"/>
          <p:nvPr/>
        </p:nvSpPr>
        <p:spPr>
          <a:xfrm>
            <a:off x="6810375" y="3686175"/>
            <a:ext cx="4572000" cy="2009775"/>
          </a:xfrm>
          <a:prstGeom prst="rect">
            <a:avLst/>
          </a:prstGeom>
          <a:noFill/>
          <a:ln>
            <a:noFill/>
          </a:ln>
        </p:spPr>
        <p:txBody>
          <a:bodyPr wrap="square" lIns="0" tIns="0" rIns="0" bIns="0" anchor="t"/>
          <a:lstStyle/>
          <a:p>
            <a:pPr>
              <a:lnSpc>
                <a:spcPct val="120000"/>
              </a:lnSpc>
            </a:pPr>
            <a:r>
              <a:rPr lang="ko-KR" sz="2100" b="0">
                <a:solidFill>
                  <a:srgbClr val="536575"/>
                </a:solidFill>
                <a:latin typeface="Malgun Gothic"/>
                <a:ea typeface="Malgun Gothic"/>
                <a:cs typeface="Malgun Gothic"/>
              </a:rPr>
              <a:t>전체 기능 통합</a:t>
            </a:r>
            <a:endParaRPr lang="ko-KR" sz="2100"/>
          </a:p>
          <a:p>
            <a:pPr>
              <a:lnSpc>
                <a:spcPct val="120000"/>
              </a:lnSpc>
            </a:pPr>
            <a:r>
              <a:rPr lang="ko-KR" sz="2100" b="0">
                <a:solidFill>
                  <a:srgbClr val="536575"/>
                </a:solidFill>
                <a:latin typeface="Malgun Gothic"/>
                <a:ea typeface="Malgun Gothic"/>
                <a:cs typeface="Malgun Gothic"/>
              </a:rPr>
              <a:t>실제 공간에서 반복 측정</a:t>
            </a:r>
            <a:endParaRPr lang="ko-KR" sz="2100"/>
          </a:p>
          <a:p>
            <a:pPr>
              <a:lnSpc>
                <a:spcPct val="120000"/>
              </a:lnSpc>
            </a:pPr>
            <a:r>
              <a:rPr lang="ko-KR" sz="2100" b="0">
                <a:solidFill>
                  <a:srgbClr val="536575"/>
                </a:solidFill>
                <a:latin typeface="Malgun Gothic"/>
                <a:ea typeface="Malgun Gothic"/>
                <a:cs typeface="Malgun Gothic"/>
              </a:rPr>
              <a:t>품질 평가 기준 보정</a:t>
            </a:r>
            <a:endParaRPr lang="ko-KR" sz="2100"/>
          </a:p>
          <a:p>
            <a:pPr>
              <a:lnSpc>
                <a:spcPct val="120000"/>
              </a:lnSpc>
            </a:pPr>
            <a:r>
              <a:rPr lang="ko-KR" sz="2100" b="0">
                <a:solidFill>
                  <a:srgbClr val="536575"/>
                </a:solidFill>
                <a:latin typeface="Malgun Gothic"/>
                <a:ea typeface="Malgun Gothic"/>
                <a:cs typeface="Malgun Gothic"/>
              </a:rPr>
              <a:t>최종 UI 정리와 시연 준비</a:t>
            </a:r>
            <a:endParaRPr lang="ko-KR" sz="2100"/>
          </a:p>
        </p:txBody>
      </p:sp>
      <p:sp>
        <p:nvSpPr>
          <p:cNvPr id="9" name="Text 9"/>
          <p:cNvSpPr txBox="1"/>
          <p:nvPr/>
        </p:nvSpPr>
        <p:spPr>
          <a:xfrm>
            <a:off x="666750" y="6200775"/>
            <a:ext cx="10668000" cy="285750"/>
          </a:xfrm>
          <a:prstGeom prst="rect">
            <a:avLst/>
          </a:prstGeom>
          <a:noFill/>
          <a:ln>
            <a:noFill/>
          </a:ln>
        </p:spPr>
        <p:txBody>
          <a:bodyPr wrap="square" lIns="0" tIns="0" rIns="0" bIns="0" anchor="t"/>
          <a:lstStyle/>
          <a:p>
            <a:pPr>
              <a:lnSpc>
                <a:spcPct val="120000"/>
              </a:lnSpc>
            </a:pPr>
            <a:r>
              <a:rPr lang="ko-KR" sz="1575" b="0">
                <a:solidFill>
                  <a:srgbClr val="536575"/>
                </a:solidFill>
                <a:latin typeface="Malgun Gothic"/>
                <a:ea typeface="Malgun Gothic"/>
                <a:cs typeface="Malgun Gothic"/>
              </a:rPr>
              <a:t>GitHub: mudkip0122/WIFI-NETWORK-OPTIMIZER</a:t>
            </a:r>
            <a:endParaRPr lang="ko-KR" sz="1575"/>
          </a:p>
        </p:txBody>
      </p:sp>
    </p:spTree>
  </p:cSld>
  <p:clrMapOvr>
    <a:masterClrMapping/>
  </p:clrMapOvr>
</p:sld>
</file>

<file path=ppt/theme/theme1.xml><?xml version="1.0" encoding="utf-8"?>
<a:theme xmlns:a="http://schemas.openxmlformats.org/drawingml/2006/main" name="Wi-Fi presentation">
  <a:themeElements>
    <a:clrScheme name="Wi-Fi">
      <a:dk1>
        <a:srgbClr val="142B43"/>
      </a:dk1>
      <a:lt1>
        <a:srgbClr val="FFFFFF"/>
      </a:lt1>
      <a:dk2>
        <a:srgbClr val="536575"/>
      </a:dk2>
      <a:lt2>
        <a:srgbClr val="F0F5F8"/>
      </a:lt2>
      <a:accent1>
        <a:srgbClr val="007D86"/>
      </a:accent1>
      <a:accent2>
        <a:srgbClr val="4E7C9B"/>
      </a:accent2>
      <a:accent3>
        <a:srgbClr val="73968C"/>
      </a:accent3>
      <a:accent4>
        <a:srgbClr val="AC7B4F"/>
      </a:accent4>
      <a:accent5>
        <a:srgbClr val="846B9A"/>
      </a:accent5>
      <a:accent6>
        <a:srgbClr val="C26565"/>
      </a:accent6>
      <a:hlink>
        <a:srgbClr val="007D86"/>
      </a:hlink>
      <a:folHlink>
        <a:srgbClr val="846B9A"/>
      </a:folHlink>
    </a:clrScheme>
    <a:fontScheme name="Malgun Gothic">
      <a:majorFont>
        <a:latin typeface="Malgun Gothic"/>
        <a:ea typeface="Malgun Gothic"/>
        <a:cs typeface="Malgun Gothic"/>
      </a:majorFont>
      <a:minorFont>
        <a:latin typeface="Malgun Gothic"/>
        <a:ea typeface="Malgun Gothic"/>
        <a:cs typeface="Malgun Gothic"/>
      </a:minorFont>
    </a:fontScheme>
    <a:fmtScheme name="Basic">
      <a:fillStyleLst>
        <a:solidFill>
          <a:schemeClr val="phClr"/>
        </a:solidFill>
        <a:solidFill>
          <a:schemeClr val="phClr"/>
        </a:solidFill>
        <a:solidFill>
          <a:schemeClr val="phClr"/>
        </a:solidFill>
      </a:fillStyleLst>
      <a:lnStyleLst>
        <a:ln w="12700">
          <a:solidFill>
            <a:schemeClr val="phClr"/>
          </a:solidFill>
          <a:prstDash val="solid"/>
        </a:ln>
        <a:ln w="12700">
          <a:solidFill>
            <a:schemeClr val="phClr"/>
          </a:solidFill>
          <a:prstDash val="solid"/>
        </a:ln>
        <a:ln w="127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